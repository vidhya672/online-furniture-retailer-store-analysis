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98" r:id="rId5"/>
    <p:sldId id="260" r:id="rId6"/>
    <p:sldId id="261" r:id="rId7"/>
    <p:sldId id="262" r:id="rId8"/>
    <p:sldId id="263" r:id="rId9"/>
    <p:sldId id="291" r:id="rId10"/>
    <p:sldId id="292" r:id="rId11"/>
    <p:sldId id="293" r:id="rId12"/>
    <p:sldId id="264" r:id="rId13"/>
    <p:sldId id="294" r:id="rId14"/>
    <p:sldId id="295" r:id="rId15"/>
    <p:sldId id="296" r:id="rId16"/>
    <p:sldId id="265" r:id="rId17"/>
    <p:sldId id="266" r:id="rId18"/>
    <p:sldId id="273" r:id="rId19"/>
    <p:sldId id="267" r:id="rId20"/>
    <p:sldId id="268" r:id="rId21"/>
    <p:sldId id="269" r:id="rId22"/>
    <p:sldId id="270" r:id="rId23"/>
    <p:sldId id="271" r:id="rId24"/>
    <p:sldId id="302" r:id="rId25"/>
    <p:sldId id="272" r:id="rId26"/>
    <p:sldId id="274" r:id="rId27"/>
    <p:sldId id="275" r:id="rId28"/>
    <p:sldId id="276" r:id="rId29"/>
    <p:sldId id="277" r:id="rId30"/>
    <p:sldId id="300" r:id="rId31"/>
    <p:sldId id="288" r:id="rId32"/>
    <p:sldId id="301" r:id="rId33"/>
    <p:sldId id="278" r:id="rId34"/>
    <p:sldId id="279" r:id="rId35"/>
    <p:sldId id="280" r:id="rId36"/>
    <p:sldId id="281" r:id="rId37"/>
    <p:sldId id="282" r:id="rId38"/>
    <p:sldId id="283" r:id="rId39"/>
    <p:sldId id="299" r:id="rId40"/>
    <p:sldId id="285" r:id="rId41"/>
    <p:sldId id="28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5033" autoAdjust="0"/>
  </p:normalViewPr>
  <p:slideViewPr>
    <p:cSldViewPr snapToGrid="0">
      <p:cViewPr>
        <p:scale>
          <a:sx n="75" d="100"/>
          <a:sy n="75" d="100"/>
        </p:scale>
        <p:origin x="974"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0T16:23:00.018"/>
    </inkml:context>
    <inkml:brush xml:id="br0">
      <inkml:brushProperty name="width" value="0.05" units="cm"/>
      <inkml:brushProperty name="height" value="0.05" units="cm"/>
      <inkml:brushProperty name="color" value="#AE198D"/>
      <inkml:brushProperty name="inkEffects" value="galaxy"/>
      <inkml:brushProperty name="anchorX" value="-4809.22852"/>
      <inkml:brushProperty name="anchorY" value="-1916.19519"/>
      <inkml:brushProperty name="scaleFactor" value="0.5"/>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4:31:55.84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4:32:05.552"/>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94546-6F3D-4732-9C18-E44199A09413}"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8AEC7-E9A0-4249-AAA7-3A70CB4C5C69}" type="slidenum">
              <a:rPr lang="en-US" smtClean="0"/>
              <a:t>‹#›</a:t>
            </a:fld>
            <a:endParaRPr lang="en-US"/>
          </a:p>
        </p:txBody>
      </p:sp>
    </p:spTree>
    <p:extLst>
      <p:ext uri="{BB962C8B-B14F-4D97-AF65-F5344CB8AC3E}">
        <p14:creationId xmlns:p14="http://schemas.microsoft.com/office/powerpoint/2010/main" val="1588687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8AEC7-E9A0-4249-AAA7-3A70CB4C5C69}" type="slidenum">
              <a:rPr lang="en-US" smtClean="0"/>
              <a:t>9</a:t>
            </a:fld>
            <a:endParaRPr lang="en-US"/>
          </a:p>
        </p:txBody>
      </p:sp>
    </p:spTree>
    <p:extLst>
      <p:ext uri="{BB962C8B-B14F-4D97-AF65-F5344CB8AC3E}">
        <p14:creationId xmlns:p14="http://schemas.microsoft.com/office/powerpoint/2010/main" val="1472242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8AEC7-E9A0-4249-AAA7-3A70CB4C5C69}" type="slidenum">
              <a:rPr lang="en-US" smtClean="0"/>
              <a:t>28</a:t>
            </a:fld>
            <a:endParaRPr lang="en-US"/>
          </a:p>
        </p:txBody>
      </p:sp>
    </p:spTree>
    <p:extLst>
      <p:ext uri="{BB962C8B-B14F-4D97-AF65-F5344CB8AC3E}">
        <p14:creationId xmlns:p14="http://schemas.microsoft.com/office/powerpoint/2010/main" val="173855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8AEC7-E9A0-4249-AAA7-3A70CB4C5C69}" type="slidenum">
              <a:rPr lang="en-US" smtClean="0"/>
              <a:t>29</a:t>
            </a:fld>
            <a:endParaRPr lang="en-US"/>
          </a:p>
        </p:txBody>
      </p:sp>
    </p:spTree>
    <p:extLst>
      <p:ext uri="{BB962C8B-B14F-4D97-AF65-F5344CB8AC3E}">
        <p14:creationId xmlns:p14="http://schemas.microsoft.com/office/powerpoint/2010/main" val="2104387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00B13-C2F7-8380-65CC-D42B4D736A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6B7F9C-8E7F-F255-E73D-FAD973C3A3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DF13E4-D423-CDBB-C837-6AAB3E6C706E}"/>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4DCFC579-94AC-9BF7-834B-10E6C804E8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DD5C4-D1DE-C402-9F74-9E82A0BE4815}"/>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073321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D5C28-A2D7-5025-BE52-180798564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A0B653-E880-E2C0-6781-416C53CF4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BADA71-1E2C-B42F-D18D-3F30DC69B806}"/>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E3760C24-F0DC-4419-A727-E08BCF435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175892-6892-CCF7-CA61-2FCF219D1CD5}"/>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320399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2D23-1084-A3A4-4FA7-A8109F2409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93431B-D9E8-ADEB-D35B-2D955B26AC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2EB6A7-AEAC-77AC-34E0-C0A2244331B0}"/>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AD05ED23-1E82-3F8F-B26A-6A2A51C95D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5C2752-B088-28E9-05CE-7FE889A685F2}"/>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1823909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B934-639E-F185-B744-A8475F51B3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AC5F1C-0610-CA9A-5C87-44557DB6DE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6FDDF4-E48B-FAF8-ED81-5812C94DAC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6D6E25-CD5B-71D4-BF02-6B11AAD8903C}"/>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6" name="Footer Placeholder 5">
            <a:extLst>
              <a:ext uri="{FF2B5EF4-FFF2-40B4-BE49-F238E27FC236}">
                <a16:creationId xmlns:a16="http://schemas.microsoft.com/office/drawing/2014/main" id="{B4A562FE-9D58-CB58-E24B-BEB5B5731B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0236AC-799D-CE2E-98B4-58CD9D0D401B}"/>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455428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9413-1BA4-8198-A82F-4040982F8D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4753D6-945A-0610-CB66-10C1D50997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1504BD-D36F-52C3-23F9-0614FA8006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A963F1-5656-0B32-9192-D219E8BE5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E4838-567D-A561-2A1F-FFC003A5C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F57E6F-2A14-DD2A-39F5-6C686B5E6F4D}"/>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8" name="Footer Placeholder 7">
            <a:extLst>
              <a:ext uri="{FF2B5EF4-FFF2-40B4-BE49-F238E27FC236}">
                <a16:creationId xmlns:a16="http://schemas.microsoft.com/office/drawing/2014/main" id="{B1534C59-05B2-47C0-160A-EC0347BC8B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186CDB-4B9D-D519-A349-F9F4DCE234BE}"/>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54720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61E1-C921-6965-7668-06E8F852E3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250B4A-B71F-F8C0-0B84-CC3E05545448}"/>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4" name="Footer Placeholder 3">
            <a:extLst>
              <a:ext uri="{FF2B5EF4-FFF2-40B4-BE49-F238E27FC236}">
                <a16:creationId xmlns:a16="http://schemas.microsoft.com/office/drawing/2014/main" id="{28107766-6B21-BDF0-F8DD-E3FDC3691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702C12-C2F0-45A3-C771-9583BF4190F1}"/>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677942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199975-7124-70ED-B07A-A9992A6E2A8D}"/>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3" name="Footer Placeholder 2">
            <a:extLst>
              <a:ext uri="{FF2B5EF4-FFF2-40B4-BE49-F238E27FC236}">
                <a16:creationId xmlns:a16="http://schemas.microsoft.com/office/drawing/2014/main" id="{16593750-D171-8072-0C98-B56B633A5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4A3977-0F94-F649-E2B9-DBAD4CAC175B}"/>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245978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AEF3-788A-E435-2113-BB28E4824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39ED01-ADA7-02A9-82A4-CF1EC7A249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E73EF0-0A2F-ECEB-2FE3-7CE2AD3F5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C3A7C3-6D03-8122-D752-5DB2FC38EEDB}"/>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6" name="Footer Placeholder 5">
            <a:extLst>
              <a:ext uri="{FF2B5EF4-FFF2-40B4-BE49-F238E27FC236}">
                <a16:creationId xmlns:a16="http://schemas.microsoft.com/office/drawing/2014/main" id="{E18CE5D9-BEDA-2106-16E4-869914DA7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D7777C-F823-5BB9-A882-B0F28D77F6A5}"/>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1990254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A358-8099-B907-25B9-63DD267C0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02613E-DDDF-7D9A-1CC8-E1A591ECCD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ED78DE-75A5-F076-B788-5C1F19A61D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A2050-B61A-E04F-0A12-2AA84A67CEDD}"/>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6" name="Footer Placeholder 5">
            <a:extLst>
              <a:ext uri="{FF2B5EF4-FFF2-40B4-BE49-F238E27FC236}">
                <a16:creationId xmlns:a16="http://schemas.microsoft.com/office/drawing/2014/main" id="{53A7D92C-1F07-2F62-43E1-E487410976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58E79B-AE42-E28C-6F68-A0F3C0FBE40B}"/>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385562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464C0-4625-491B-DE65-57BFBC028B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72E115-8306-0250-058A-46FE65D35E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648FA-0F7D-CE62-D4F2-437ACA70A73C}"/>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72595912-A826-BDF7-5FD4-70B07AF47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261EAD-47F3-8BA6-DFD2-91BD9A495108}"/>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1298327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3ADC27-8EB5-D839-9B20-B32D0C593B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C905A1-D659-1685-A8CD-66EA4F8710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5A6304-D12C-F3B2-E403-3164668EE3E3}"/>
              </a:ext>
            </a:extLst>
          </p:cNvPr>
          <p:cNvSpPr>
            <a:spLocks noGrp="1"/>
          </p:cNvSpPr>
          <p:nvPr>
            <p:ph type="dt" sz="half" idx="10"/>
          </p:nvPr>
        </p:nvSpPr>
        <p:spPr/>
        <p:txBody>
          <a:body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C5166558-E914-F695-53E3-44BB3B7111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57DA8-419F-922F-7734-0F4D9B80B7D3}"/>
              </a:ext>
            </a:extLst>
          </p:cNvPr>
          <p:cNvSpPr>
            <a:spLocks noGrp="1"/>
          </p:cNvSpPr>
          <p:nvPr>
            <p:ph type="sldNum" sz="quarter" idx="12"/>
          </p:nvPr>
        </p:nvSpPr>
        <p:spPr/>
        <p:txBody>
          <a:bodyPr/>
          <a:lstStyle/>
          <a:p>
            <a:fld id="{7AA1FD85-0952-4C84-AE25-81BA9EDE5B4A}" type="slidenum">
              <a:rPr lang="en-US" smtClean="0"/>
              <a:t>‹#›</a:t>
            </a:fld>
            <a:endParaRPr lang="en-US"/>
          </a:p>
        </p:txBody>
      </p:sp>
    </p:spTree>
    <p:extLst>
      <p:ext uri="{BB962C8B-B14F-4D97-AF65-F5344CB8AC3E}">
        <p14:creationId xmlns:p14="http://schemas.microsoft.com/office/powerpoint/2010/main" val="2310022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B134D3-8F0F-3F1E-E613-1E9A1FD90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E5B56F-5D02-9CC1-8940-DD7535BECA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B5539B-AFBC-9CEE-2BF0-1C932508C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20C0D0-4642-4BA0-A5C1-AAAABEBF9245}" type="datetimeFigureOut">
              <a:rPr lang="en-US" smtClean="0"/>
              <a:t>4/11/2026</a:t>
            </a:fld>
            <a:endParaRPr lang="en-US"/>
          </a:p>
        </p:txBody>
      </p:sp>
      <p:sp>
        <p:nvSpPr>
          <p:cNvPr id="5" name="Footer Placeholder 4">
            <a:extLst>
              <a:ext uri="{FF2B5EF4-FFF2-40B4-BE49-F238E27FC236}">
                <a16:creationId xmlns:a16="http://schemas.microsoft.com/office/drawing/2014/main" id="{BF0369C8-144C-E5BD-1CF1-B8B9DC8E8F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CFB8F7-2281-0B99-CBD0-0F5B0962A0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A1FD85-0952-4C84-AE25-81BA9EDE5B4A}" type="slidenum">
              <a:rPr lang="en-US" smtClean="0"/>
              <a:t>‹#›</a:t>
            </a:fld>
            <a:endParaRPr lang="en-US"/>
          </a:p>
        </p:txBody>
      </p:sp>
    </p:spTree>
    <p:extLst>
      <p:ext uri="{BB962C8B-B14F-4D97-AF65-F5344CB8AC3E}">
        <p14:creationId xmlns:p14="http://schemas.microsoft.com/office/powerpoint/2010/main" val="274055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customXml" Target="../ink/ink2.xml"/><Relationship Id="rId4" Type="http://schemas.openxmlformats.org/officeDocument/2006/relationships/image" Target="../media/image170.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E100-336C-2032-7A21-081331BD3052}"/>
              </a:ext>
            </a:extLst>
          </p:cNvPr>
          <p:cNvSpPr>
            <a:spLocks noGrp="1"/>
          </p:cNvSpPr>
          <p:nvPr>
            <p:ph type="ctrTitle"/>
          </p:nvPr>
        </p:nvSpPr>
        <p:spPr>
          <a:xfrm>
            <a:off x="1524000" y="1122362"/>
            <a:ext cx="9144000" cy="4135437"/>
          </a:xfrm>
        </p:spPr>
        <p:txBody>
          <a:bodyPr/>
          <a:lstStyle/>
          <a:p>
            <a:endParaRPr lang="en-US" dirty="0"/>
          </a:p>
        </p:txBody>
      </p:sp>
      <p:sp>
        <p:nvSpPr>
          <p:cNvPr id="3" name="Subtitle 2">
            <a:extLst>
              <a:ext uri="{FF2B5EF4-FFF2-40B4-BE49-F238E27FC236}">
                <a16:creationId xmlns:a16="http://schemas.microsoft.com/office/drawing/2014/main" id="{9319A9C8-748C-C459-714E-056EE9D6A1BA}"/>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E9A178AF-220E-8CEA-62CF-0017158B42A4}"/>
              </a:ext>
            </a:extLst>
          </p:cNvPr>
          <p:cNvPicPr>
            <a:picLocks noChangeAspect="1"/>
          </p:cNvPicPr>
          <p:nvPr/>
        </p:nvPicPr>
        <p:blipFill>
          <a:blip r:embed="rId2"/>
          <a:stretch>
            <a:fillRect/>
          </a:stretch>
        </p:blipFill>
        <p:spPr>
          <a:xfrm>
            <a:off x="1435509" y="658762"/>
            <a:ext cx="9320981" cy="4762245"/>
          </a:xfrm>
          <a:prstGeom prst="rect">
            <a:avLst/>
          </a:prstGeom>
        </p:spPr>
      </p:pic>
      <p:sp>
        <p:nvSpPr>
          <p:cNvPr id="5" name="TextBox 4">
            <a:extLst>
              <a:ext uri="{FF2B5EF4-FFF2-40B4-BE49-F238E27FC236}">
                <a16:creationId xmlns:a16="http://schemas.microsoft.com/office/drawing/2014/main" id="{C7B9D0C1-F028-FD6D-CA9A-3C957B27DECB}"/>
              </a:ext>
            </a:extLst>
          </p:cNvPr>
          <p:cNvSpPr txBox="1"/>
          <p:nvPr/>
        </p:nvSpPr>
        <p:spPr>
          <a:xfrm>
            <a:off x="1455174" y="5421007"/>
            <a:ext cx="7139584" cy="1200329"/>
          </a:xfrm>
          <a:prstGeom prst="rect">
            <a:avLst/>
          </a:prstGeom>
          <a:noFill/>
        </p:spPr>
        <p:txBody>
          <a:bodyPr wrap="square" rtlCol="0">
            <a:spAutoFit/>
          </a:bodyPr>
          <a:lstStyle/>
          <a:p>
            <a:r>
              <a:rPr lang="en-US" dirty="0">
                <a:solidFill>
                  <a:srgbClr val="FF0000"/>
                </a:solidFill>
              </a:rPr>
              <a:t>Prepared By: VIDHYA V </a:t>
            </a:r>
          </a:p>
          <a:p>
            <a:r>
              <a:rPr lang="en-US" dirty="0">
                <a:solidFill>
                  <a:srgbClr val="FF0000"/>
                </a:solidFill>
              </a:rPr>
              <a:t>Tools Used: Excel ,SQL, Python (Pandas, Matplotlib, Seaborn), Power BI </a:t>
            </a:r>
          </a:p>
          <a:p>
            <a:r>
              <a:rPr lang="en-US" dirty="0">
                <a:solidFill>
                  <a:srgbClr val="FF0000"/>
                </a:solidFill>
              </a:rPr>
              <a:t>Dataset: Online Furniture Orders – Delivery and Assembly </a:t>
            </a:r>
          </a:p>
          <a:p>
            <a:r>
              <a:rPr lang="en-US" dirty="0">
                <a:solidFill>
                  <a:srgbClr val="FF0000"/>
                </a:solidFill>
              </a:rPr>
              <a:t>Year:2026</a:t>
            </a:r>
          </a:p>
        </p:txBody>
      </p:sp>
    </p:spTree>
    <p:extLst>
      <p:ext uri="{BB962C8B-B14F-4D97-AF65-F5344CB8AC3E}">
        <p14:creationId xmlns:p14="http://schemas.microsoft.com/office/powerpoint/2010/main" val="23306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E0B7FE-EBA0-5FEA-3A6F-464EAD9AA09A}"/>
              </a:ext>
            </a:extLst>
          </p:cNvPr>
          <p:cNvSpPr>
            <a:spLocks noGrp="1"/>
          </p:cNvSpPr>
          <p:nvPr>
            <p:ph idx="1"/>
          </p:nvPr>
        </p:nvSpPr>
        <p:spPr>
          <a:xfrm>
            <a:off x="838200" y="891558"/>
            <a:ext cx="10813026" cy="5322429"/>
          </a:xfrm>
        </p:spPr>
        <p:txBody>
          <a:bodyPr>
            <a:normAutofit/>
          </a:bodyPr>
          <a:lstStyle/>
          <a:p>
            <a:pPr marL="342900" indent="-342900" algn="just">
              <a:buFont typeface="+mj-lt"/>
              <a:buAutoNum type="arabicPeriod"/>
            </a:pPr>
            <a:r>
              <a:rPr lang="en-US" sz="1800" dirty="0"/>
              <a:t>OBJECTIVE                                                                                                                                                                            3</a:t>
            </a:r>
          </a:p>
          <a:p>
            <a:pPr marL="342900" indent="-342900" algn="just">
              <a:buFont typeface="+mj-lt"/>
              <a:buAutoNum type="arabicPeriod"/>
            </a:pPr>
            <a:r>
              <a:rPr lang="en-US" sz="1800" dirty="0"/>
              <a:t>BUSINESS / CLIENT QUESTIONS                                                                                                                                        4</a:t>
            </a:r>
          </a:p>
          <a:p>
            <a:pPr marL="342900" indent="-342900" algn="just">
              <a:buFont typeface="+mj-lt"/>
              <a:buAutoNum type="arabicPeriod"/>
            </a:pPr>
            <a:r>
              <a:rPr lang="en-US" sz="1800" dirty="0"/>
              <a:t>DATA OVERVIEW                                                                                                                                                                  5                                                                                                                                    </a:t>
            </a:r>
          </a:p>
          <a:p>
            <a:pPr marL="342900" indent="-342900" algn="just">
              <a:buFont typeface="+mj-lt"/>
              <a:buAutoNum type="arabicPeriod"/>
            </a:pPr>
            <a:r>
              <a:rPr lang="en-US" sz="1800" dirty="0"/>
              <a:t>TOOLS AND TECHNOLOGY USED                                                                                                                                      8                                                                                                                      </a:t>
            </a:r>
          </a:p>
          <a:p>
            <a:pPr marL="342900" indent="-342900" algn="just">
              <a:buFont typeface="+mj-lt"/>
              <a:buAutoNum type="arabicPeriod"/>
            </a:pPr>
            <a:r>
              <a:rPr lang="en-US" sz="1800" dirty="0"/>
              <a:t>DATA CLEANING AND PREPARATION                                                                                                                                9  </a:t>
            </a:r>
          </a:p>
          <a:p>
            <a:pPr marL="342900" indent="-342900" algn="just">
              <a:buFont typeface="+mj-lt"/>
              <a:buAutoNum type="arabicPeriod"/>
            </a:pPr>
            <a:r>
              <a:rPr lang="en-US" sz="1800" dirty="0"/>
              <a:t>EXPLORATORY DATA ANALYSIS                                                                                                                                         11                                                                                                                          </a:t>
            </a:r>
          </a:p>
          <a:p>
            <a:pPr marL="342900" indent="-342900" algn="just">
              <a:buFont typeface="+mj-lt"/>
              <a:buAutoNum type="arabicPeriod"/>
            </a:pPr>
            <a:r>
              <a:rPr lang="en-US" sz="1800" dirty="0"/>
              <a:t>SQL DATA EXPLORATION                                                                                                                                                   16</a:t>
            </a:r>
          </a:p>
          <a:p>
            <a:pPr marL="342900" indent="-342900" algn="just">
              <a:buFont typeface="+mj-lt"/>
              <a:buAutoNum type="arabicPeriod"/>
            </a:pPr>
            <a:r>
              <a:rPr lang="en-US" sz="1800" dirty="0"/>
              <a:t>POWER BI DASHBOARD                                                                                                                                                    24                                </a:t>
            </a:r>
          </a:p>
          <a:p>
            <a:pPr marL="342900" indent="-342900" algn="just">
              <a:buFont typeface="+mj-lt"/>
              <a:buAutoNum type="arabicPeriod"/>
            </a:pPr>
            <a:r>
              <a:rPr lang="en-US" sz="1800" dirty="0"/>
              <a:t>KEY INSIGHTS AND FINDINGS                                                                                                                                          32</a:t>
            </a:r>
          </a:p>
          <a:p>
            <a:pPr marL="342900" indent="-342900" algn="just">
              <a:buFont typeface="+mj-lt"/>
              <a:buAutoNum type="arabicPeriod"/>
            </a:pPr>
            <a:r>
              <a:rPr lang="en-US" sz="1800" dirty="0"/>
              <a:t>RECOMMENDATIONS                                                                                                                                                        35</a:t>
            </a:r>
          </a:p>
          <a:p>
            <a:pPr marL="342900" indent="-342900" algn="just">
              <a:buFont typeface="+mj-lt"/>
              <a:buAutoNum type="arabicPeriod"/>
            </a:pPr>
            <a:r>
              <a:rPr lang="en-US" sz="1900" dirty="0"/>
              <a:t>LIMITATIONS                                                                                                                                                                 39                                                                                                                                   </a:t>
            </a:r>
          </a:p>
          <a:p>
            <a:pPr marL="342900" indent="-342900" algn="just">
              <a:buFont typeface="+mj-lt"/>
              <a:buAutoNum type="arabicPeriod"/>
            </a:pPr>
            <a:r>
              <a:rPr lang="en-US" sz="1800" dirty="0"/>
              <a:t>CONCLUSION                                                                                                                                                                      40</a:t>
            </a:r>
          </a:p>
          <a:p>
            <a:pPr marL="342900" indent="-342900" algn="just">
              <a:buFont typeface="+mj-lt"/>
              <a:buAutoNum type="arabicPeriod"/>
            </a:pPr>
            <a:r>
              <a:rPr lang="en-US" sz="1800" dirty="0"/>
              <a:t>REFERENCES                                                                                                                                                                        41</a:t>
            </a:r>
          </a:p>
        </p:txBody>
      </p:sp>
    </p:spTree>
    <p:extLst>
      <p:ext uri="{BB962C8B-B14F-4D97-AF65-F5344CB8AC3E}">
        <p14:creationId xmlns:p14="http://schemas.microsoft.com/office/powerpoint/2010/main" val="182065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306A-E92D-C7B2-DEFA-B419113A94D2}"/>
              </a:ext>
            </a:extLst>
          </p:cNvPr>
          <p:cNvSpPr>
            <a:spLocks noGrp="1"/>
          </p:cNvSpPr>
          <p:nvPr>
            <p:ph type="title"/>
          </p:nvPr>
        </p:nvSpPr>
        <p:spPr>
          <a:xfrm>
            <a:off x="838200" y="443784"/>
            <a:ext cx="10515600" cy="421455"/>
          </a:xfrm>
        </p:spPr>
        <p:txBody>
          <a:bodyPr>
            <a:normAutofit fontScale="90000"/>
          </a:bodyPr>
          <a:lstStyle/>
          <a:p>
            <a:r>
              <a:rPr lang="en-US" b="1" dirty="0"/>
              <a:t>1.Objective:</a:t>
            </a:r>
            <a:endParaRPr lang="en-US" dirty="0"/>
          </a:p>
        </p:txBody>
      </p:sp>
      <p:sp>
        <p:nvSpPr>
          <p:cNvPr id="3" name="Content Placeholder 2">
            <a:extLst>
              <a:ext uri="{FF2B5EF4-FFF2-40B4-BE49-F238E27FC236}">
                <a16:creationId xmlns:a16="http://schemas.microsoft.com/office/drawing/2014/main" id="{EEAB58A4-A4A5-E36F-34EF-9A5FA4207A68}"/>
              </a:ext>
            </a:extLst>
          </p:cNvPr>
          <p:cNvSpPr>
            <a:spLocks noGrp="1"/>
          </p:cNvSpPr>
          <p:nvPr>
            <p:ph idx="1"/>
          </p:nvPr>
        </p:nvSpPr>
        <p:spPr>
          <a:xfrm>
            <a:off x="730045" y="1189704"/>
            <a:ext cx="11206316" cy="4351338"/>
          </a:xfrm>
        </p:spPr>
        <p:txBody>
          <a:bodyPr/>
          <a:lstStyle/>
          <a:p>
            <a:pPr marL="0" indent="0">
              <a:buNone/>
            </a:pPr>
            <a:r>
              <a:rPr lang="en-US" sz="1800" dirty="0">
                <a:latin typeface="+mj-lt"/>
              </a:rPr>
              <a:t>The purpose of this project is to analyze online furniture order data to understand customer ordering patterns, delivery performance, service choices (such as assembly requests), customer ratings. and payment preferences. You will derive actionable insights that can help improve operational efficiency, customer satisfaction, and revenue performance for an e-commerce furniture retailer.</a:t>
            </a:r>
          </a:p>
          <a:p>
            <a:endParaRPr lang="en-US" dirty="0">
              <a:latin typeface="+mj-lt"/>
            </a:endParaRPr>
          </a:p>
        </p:txBody>
      </p:sp>
    </p:spTree>
    <p:extLst>
      <p:ext uri="{BB962C8B-B14F-4D97-AF65-F5344CB8AC3E}">
        <p14:creationId xmlns:p14="http://schemas.microsoft.com/office/powerpoint/2010/main" val="608086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BCFD7-7D06-E6EB-3A9E-5086E2E1AFF3}"/>
              </a:ext>
            </a:extLst>
          </p:cNvPr>
          <p:cNvSpPr>
            <a:spLocks noGrp="1"/>
          </p:cNvSpPr>
          <p:nvPr>
            <p:ph type="title"/>
          </p:nvPr>
        </p:nvSpPr>
        <p:spPr>
          <a:xfrm>
            <a:off x="462987" y="271596"/>
            <a:ext cx="10987268" cy="583572"/>
          </a:xfrm>
        </p:spPr>
        <p:txBody>
          <a:bodyPr>
            <a:normAutofit fontScale="90000"/>
          </a:bodyPr>
          <a:lstStyle/>
          <a:p>
            <a:r>
              <a:rPr lang="en-US" sz="4000" b="1" dirty="0"/>
              <a:t>2. Business/Client Questions</a:t>
            </a:r>
          </a:p>
        </p:txBody>
      </p:sp>
      <p:sp>
        <p:nvSpPr>
          <p:cNvPr id="4" name="Rectangle 1">
            <a:extLst>
              <a:ext uri="{FF2B5EF4-FFF2-40B4-BE49-F238E27FC236}">
                <a16:creationId xmlns:a16="http://schemas.microsoft.com/office/drawing/2014/main" id="{AF4961BB-4FAB-CEA0-D251-858AD96B90FF}"/>
              </a:ext>
            </a:extLst>
          </p:cNvPr>
          <p:cNvSpPr>
            <a:spLocks noGrp="1" noChangeArrowheads="1"/>
          </p:cNvSpPr>
          <p:nvPr>
            <p:ph idx="1"/>
          </p:nvPr>
        </p:nvSpPr>
        <p:spPr bwMode="auto">
          <a:xfrm>
            <a:off x="570271" y="993667"/>
            <a:ext cx="111587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How can improving delivery timelines increase customer satisfaction, and what actions can be taken to achieve this?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Why should assembly services be promoted, and how can this increase revenue for an online furniture retailer?</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How can focusing on high-revenue product categories and brands help drive overall sales growth?</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What strategies can reduce delivery delays and improve fulfillment performance to enhance customer experience?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How can optimizing brand and category performance improve revenue growth and inventory utilization?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j-lt"/>
              </a:rPr>
              <a:t>Why is it important to optimize pricing and cost structure, and what benefits can it bring to the business?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800" b="1" dirty="0">
              <a:latin typeface="+mj-lt"/>
            </a:endParaRPr>
          </a:p>
          <a:p>
            <a:pPr marL="342900" lvl="0" indent="-342900" eaLnBrk="0" fontAlgn="base" hangingPunct="0">
              <a:lnSpc>
                <a:spcPct val="100000"/>
              </a:lnSpc>
              <a:spcBef>
                <a:spcPct val="0"/>
              </a:spcBef>
              <a:spcAft>
                <a:spcPct val="0"/>
              </a:spcAft>
              <a:buFont typeface="+mj-lt"/>
              <a:buAutoNum type="arabicPeriod"/>
            </a:pPr>
            <a:r>
              <a:rPr lang="en-US" altLang="en-US" sz="1800" b="1" dirty="0">
                <a:latin typeface="+mj-lt"/>
              </a:rPr>
              <a:t>  Which is </a:t>
            </a:r>
            <a:r>
              <a:rPr lang="en-US" sz="1800" b="1" dirty="0">
                <a:latin typeface="+mj-lt"/>
              </a:rPr>
              <a:t>Low-Performing Product- Categories and how to overcome</a:t>
            </a:r>
          </a:p>
          <a:p>
            <a:pPr marL="342900" lvl="0" indent="-342900" eaLnBrk="0" fontAlgn="base" hangingPunct="0">
              <a:lnSpc>
                <a:spcPct val="100000"/>
              </a:lnSpc>
              <a:spcBef>
                <a:spcPct val="0"/>
              </a:spcBef>
              <a:spcAft>
                <a:spcPct val="0"/>
              </a:spcAft>
              <a:buFont typeface="+mj-lt"/>
              <a:buAutoNum type="arabicPeriod"/>
            </a:pPr>
            <a:endParaRPr lang="en-US" sz="1800" b="1" dirty="0">
              <a:latin typeface="+mj-lt"/>
            </a:endParaRPr>
          </a:p>
          <a:p>
            <a:pPr marL="342900" lvl="0" indent="-342900" eaLnBrk="0" fontAlgn="base" hangingPunct="0">
              <a:lnSpc>
                <a:spcPct val="100000"/>
              </a:lnSpc>
              <a:spcBef>
                <a:spcPct val="0"/>
              </a:spcBef>
              <a:spcAft>
                <a:spcPct val="0"/>
              </a:spcAft>
              <a:buFont typeface="+mj-lt"/>
              <a:buAutoNum type="arabicPeriod"/>
            </a:pPr>
            <a:r>
              <a:rPr lang="en-US" altLang="en-US" sz="1800" b="1" dirty="0">
                <a:latin typeface="+mj-lt"/>
              </a:rPr>
              <a:t>  Find </a:t>
            </a:r>
            <a:r>
              <a:rPr lang="en-US" sz="1800" dirty="0"/>
              <a:t>Important Calculations</a:t>
            </a:r>
            <a:endParaRPr kumimoji="0" lang="en-US" altLang="en-US" sz="1800" b="1"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9514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B1807-1726-17FB-2C43-C15C09898C3F}"/>
              </a:ext>
            </a:extLst>
          </p:cNvPr>
          <p:cNvSpPr>
            <a:spLocks noGrp="1"/>
          </p:cNvSpPr>
          <p:nvPr>
            <p:ph type="title"/>
          </p:nvPr>
        </p:nvSpPr>
        <p:spPr>
          <a:xfrm>
            <a:off x="838200" y="365126"/>
            <a:ext cx="10515600" cy="665022"/>
          </a:xfrm>
        </p:spPr>
        <p:txBody>
          <a:bodyPr>
            <a:normAutofit fontScale="90000"/>
          </a:bodyPr>
          <a:lstStyle/>
          <a:p>
            <a:r>
              <a:rPr lang="en-US" b="1" dirty="0"/>
              <a:t>3.Data Overview</a:t>
            </a:r>
          </a:p>
        </p:txBody>
      </p:sp>
      <p:sp>
        <p:nvSpPr>
          <p:cNvPr id="3" name="Content Placeholder 2">
            <a:extLst>
              <a:ext uri="{FF2B5EF4-FFF2-40B4-BE49-F238E27FC236}">
                <a16:creationId xmlns:a16="http://schemas.microsoft.com/office/drawing/2014/main" id="{EF91F906-FB87-98E5-545B-63C1B4AD2A97}"/>
              </a:ext>
            </a:extLst>
          </p:cNvPr>
          <p:cNvSpPr>
            <a:spLocks noGrp="1"/>
          </p:cNvSpPr>
          <p:nvPr>
            <p:ph idx="1"/>
          </p:nvPr>
        </p:nvSpPr>
        <p:spPr>
          <a:xfrm>
            <a:off x="838200" y="1405495"/>
            <a:ext cx="10515600" cy="4781300"/>
          </a:xfrm>
        </p:spPr>
        <p:txBody>
          <a:bodyPr>
            <a:normAutofit/>
          </a:bodyPr>
          <a:lstStyle/>
          <a:p>
            <a:r>
              <a:rPr lang="en-US" sz="1800" b="1" dirty="0"/>
              <a:t>Dataset Name:</a:t>
            </a:r>
            <a:br>
              <a:rPr lang="en-US" sz="1800" dirty="0"/>
            </a:br>
            <a:r>
              <a:rPr lang="en-US" sz="1800" dirty="0">
                <a:latin typeface="+mj-lt"/>
              </a:rPr>
              <a:t>Online Furniture Orders – Delivery and Assembly (2025)</a:t>
            </a:r>
          </a:p>
          <a:p>
            <a:r>
              <a:rPr lang="en-US" sz="1800" b="1" dirty="0"/>
              <a:t>Data Source:</a:t>
            </a:r>
            <a:br>
              <a:rPr lang="en-US" sz="1800" dirty="0"/>
            </a:br>
            <a:r>
              <a:rPr lang="en-US" sz="1800" dirty="0">
                <a:latin typeface="+mj-lt"/>
              </a:rPr>
              <a:t>Kaggle (Public Dataset)</a:t>
            </a:r>
          </a:p>
          <a:p>
            <a:r>
              <a:rPr lang="en-US" sz="1800" b="1" dirty="0"/>
              <a:t>Description:</a:t>
            </a:r>
            <a:br>
              <a:rPr lang="en-US" sz="1800" dirty="0"/>
            </a:br>
            <a:r>
              <a:rPr lang="en-US" sz="1800" dirty="0">
                <a:latin typeface="+mj-lt"/>
              </a:rPr>
              <a:t>The dataset contains transactional data related to online furniture orders placed in 2025. It captures detailed information about customer purchases, product characteristics, delivery timelines, optional assembly services, payment methods, and customer feedback. This data enables analysis of sales performance, logistics efficiency, service adoption, and customer satisfaction.</a:t>
            </a:r>
          </a:p>
          <a:p>
            <a:pPr marL="0" indent="0">
              <a:buNone/>
            </a:pPr>
            <a:endParaRPr lang="en-US" sz="1800" dirty="0"/>
          </a:p>
        </p:txBody>
      </p:sp>
    </p:spTree>
    <p:extLst>
      <p:ext uri="{BB962C8B-B14F-4D97-AF65-F5344CB8AC3E}">
        <p14:creationId xmlns:p14="http://schemas.microsoft.com/office/powerpoint/2010/main" val="4164723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19AB-39FD-079C-0E27-61BDC0B08655}"/>
              </a:ext>
            </a:extLst>
          </p:cNvPr>
          <p:cNvSpPr>
            <a:spLocks noGrp="1"/>
          </p:cNvSpPr>
          <p:nvPr>
            <p:ph type="title"/>
          </p:nvPr>
        </p:nvSpPr>
        <p:spPr>
          <a:xfrm>
            <a:off x="953947" y="486697"/>
            <a:ext cx="10515600" cy="803918"/>
          </a:xfrm>
        </p:spPr>
        <p:txBody>
          <a:bodyPr>
            <a:normAutofit/>
          </a:bodyPr>
          <a:lstStyle/>
          <a:p>
            <a:r>
              <a:rPr lang="en-US" sz="3200" b="1" dirty="0"/>
              <a:t>Key Variables:</a:t>
            </a:r>
            <a:endParaRPr lang="en-US" sz="3200" dirty="0"/>
          </a:p>
        </p:txBody>
      </p:sp>
      <p:sp>
        <p:nvSpPr>
          <p:cNvPr id="3" name="Content Placeholder 2">
            <a:extLst>
              <a:ext uri="{FF2B5EF4-FFF2-40B4-BE49-F238E27FC236}">
                <a16:creationId xmlns:a16="http://schemas.microsoft.com/office/drawing/2014/main" id="{B91B4D06-96B4-80AD-D395-79EB6C845406}"/>
              </a:ext>
            </a:extLst>
          </p:cNvPr>
          <p:cNvSpPr>
            <a:spLocks noGrp="1"/>
          </p:cNvSpPr>
          <p:nvPr>
            <p:ph idx="1"/>
          </p:nvPr>
        </p:nvSpPr>
        <p:spPr>
          <a:xfrm>
            <a:off x="838200" y="1474838"/>
            <a:ext cx="10515600" cy="4896465"/>
          </a:xfrm>
        </p:spPr>
        <p:txBody>
          <a:bodyPr>
            <a:normAutofit fontScale="62500" lnSpcReduction="20000"/>
          </a:bodyPr>
          <a:lstStyle/>
          <a:p>
            <a:pPr lvl="0"/>
            <a:r>
              <a:rPr lang="en-US" dirty="0" err="1">
                <a:latin typeface="+mj-lt"/>
              </a:rPr>
              <a:t>order_id</a:t>
            </a:r>
            <a:r>
              <a:rPr lang="en-US" dirty="0">
                <a:latin typeface="+mj-lt"/>
              </a:rPr>
              <a:t> – Unique identifier assigned to each customer order</a:t>
            </a:r>
          </a:p>
          <a:p>
            <a:pPr lvl="0"/>
            <a:r>
              <a:rPr lang="en-US" dirty="0" err="1">
                <a:latin typeface="+mj-lt"/>
              </a:rPr>
              <a:t>customer_id</a:t>
            </a:r>
            <a:r>
              <a:rPr lang="en-US" dirty="0">
                <a:latin typeface="+mj-lt"/>
              </a:rPr>
              <a:t> – Unique identifier for each customer</a:t>
            </a:r>
          </a:p>
          <a:p>
            <a:pPr lvl="0"/>
            <a:r>
              <a:rPr lang="en-US" dirty="0" err="1">
                <a:latin typeface="+mj-lt"/>
              </a:rPr>
              <a:t>product_category</a:t>
            </a:r>
            <a:r>
              <a:rPr lang="en-US" dirty="0">
                <a:latin typeface="+mj-lt"/>
              </a:rPr>
              <a:t> – High-level category of the furniture product</a:t>
            </a:r>
          </a:p>
          <a:p>
            <a:pPr lvl="0"/>
            <a:r>
              <a:rPr lang="en-US" dirty="0" err="1">
                <a:latin typeface="+mj-lt"/>
              </a:rPr>
              <a:t>product_subcategory</a:t>
            </a:r>
            <a:r>
              <a:rPr lang="en-US" dirty="0">
                <a:latin typeface="+mj-lt"/>
              </a:rPr>
              <a:t> – Specific type of furniture within the category</a:t>
            </a:r>
          </a:p>
          <a:p>
            <a:pPr lvl="0"/>
            <a:r>
              <a:rPr lang="en-US" dirty="0">
                <a:latin typeface="+mj-lt"/>
              </a:rPr>
              <a:t>brand – Brand or manufacturer of the furniture item</a:t>
            </a:r>
          </a:p>
          <a:p>
            <a:pPr lvl="0"/>
            <a:r>
              <a:rPr lang="en-US" dirty="0" err="1">
                <a:latin typeface="+mj-lt"/>
              </a:rPr>
              <a:t>product_price</a:t>
            </a:r>
            <a:r>
              <a:rPr lang="en-US" dirty="0">
                <a:latin typeface="+mj-lt"/>
              </a:rPr>
              <a:t> – Base price of the product excluding additional charges</a:t>
            </a:r>
          </a:p>
          <a:p>
            <a:pPr lvl="0"/>
            <a:r>
              <a:rPr lang="en-US" dirty="0" err="1">
                <a:latin typeface="+mj-lt"/>
              </a:rPr>
              <a:t>shipping_cost</a:t>
            </a:r>
            <a:r>
              <a:rPr lang="en-US" dirty="0">
                <a:latin typeface="+mj-lt"/>
              </a:rPr>
              <a:t> – Cost charged for delivering the product</a:t>
            </a:r>
          </a:p>
          <a:p>
            <a:pPr lvl="0"/>
            <a:r>
              <a:rPr lang="en-US" dirty="0" err="1">
                <a:latin typeface="+mj-lt"/>
              </a:rPr>
              <a:t>assembly_service_requested</a:t>
            </a:r>
            <a:r>
              <a:rPr lang="en-US" dirty="0">
                <a:latin typeface="+mj-lt"/>
              </a:rPr>
              <a:t> – Indicates whether the customer requested assembly service (Yes/No)</a:t>
            </a:r>
          </a:p>
          <a:p>
            <a:pPr lvl="0"/>
            <a:r>
              <a:rPr lang="en-US" dirty="0" err="1">
                <a:latin typeface="+mj-lt"/>
              </a:rPr>
              <a:t>assembly_cost</a:t>
            </a:r>
            <a:r>
              <a:rPr lang="en-US" dirty="0">
                <a:latin typeface="+mj-lt"/>
              </a:rPr>
              <a:t> – Cost of assembly service applied to the order</a:t>
            </a:r>
          </a:p>
          <a:p>
            <a:pPr lvl="0"/>
            <a:r>
              <a:rPr lang="en-US" dirty="0" err="1">
                <a:latin typeface="+mj-lt"/>
              </a:rPr>
              <a:t>total_amount</a:t>
            </a:r>
            <a:r>
              <a:rPr lang="en-US" dirty="0">
                <a:latin typeface="+mj-lt"/>
              </a:rPr>
              <a:t> – Total value of the order including product price, shipping, and assembly costs</a:t>
            </a:r>
          </a:p>
          <a:p>
            <a:pPr lvl="0"/>
            <a:r>
              <a:rPr lang="en-US" dirty="0" err="1">
                <a:latin typeface="+mj-lt"/>
              </a:rPr>
              <a:t>delivery_window_days</a:t>
            </a:r>
            <a:r>
              <a:rPr lang="en-US" dirty="0">
                <a:latin typeface="+mj-lt"/>
              </a:rPr>
              <a:t> – Number of days promised for order delivery</a:t>
            </a:r>
          </a:p>
          <a:p>
            <a:pPr lvl="0"/>
            <a:r>
              <a:rPr lang="en-US" dirty="0" err="1">
                <a:latin typeface="+mj-lt"/>
              </a:rPr>
              <a:t>delivery_status</a:t>
            </a:r>
            <a:r>
              <a:rPr lang="en-US" dirty="0">
                <a:latin typeface="+mj-lt"/>
              </a:rPr>
              <a:t> – Final delivery outcome of the order</a:t>
            </a:r>
          </a:p>
          <a:p>
            <a:pPr lvl="0"/>
            <a:r>
              <a:rPr lang="en-US" dirty="0" err="1">
                <a:latin typeface="+mj-lt"/>
              </a:rPr>
              <a:t>payment_method</a:t>
            </a:r>
            <a:r>
              <a:rPr lang="en-US" dirty="0">
                <a:latin typeface="+mj-lt"/>
              </a:rPr>
              <a:t> – Payment mode used by the customer</a:t>
            </a:r>
          </a:p>
          <a:p>
            <a:pPr lvl="0"/>
            <a:r>
              <a:rPr lang="en-US" dirty="0" err="1">
                <a:latin typeface="+mj-lt"/>
              </a:rPr>
              <a:t>customer_rating</a:t>
            </a:r>
            <a:r>
              <a:rPr lang="en-US" dirty="0">
                <a:latin typeface="+mj-lt"/>
              </a:rPr>
              <a:t> – Customer satisfaction rating on a scale of 1 to 5 after delivery</a:t>
            </a:r>
          </a:p>
        </p:txBody>
      </p:sp>
    </p:spTree>
    <p:extLst>
      <p:ext uri="{BB962C8B-B14F-4D97-AF65-F5344CB8AC3E}">
        <p14:creationId xmlns:p14="http://schemas.microsoft.com/office/powerpoint/2010/main" val="1146115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DAE44-942D-21E1-0797-9D727DC1FA2C}"/>
              </a:ext>
            </a:extLst>
          </p:cNvPr>
          <p:cNvSpPr>
            <a:spLocks noGrp="1"/>
          </p:cNvSpPr>
          <p:nvPr>
            <p:ph idx="1"/>
          </p:nvPr>
        </p:nvSpPr>
        <p:spPr>
          <a:xfrm>
            <a:off x="838200" y="935931"/>
            <a:ext cx="10515600" cy="5226903"/>
          </a:xfrm>
        </p:spPr>
        <p:txBody>
          <a:bodyPr/>
          <a:lstStyle/>
          <a:p>
            <a:pPr>
              <a:buFont typeface="Wingdings" panose="05000000000000000000" pitchFamily="2" charset="2"/>
              <a:buChar char="§"/>
            </a:pPr>
            <a:r>
              <a:rPr lang="en-US" sz="1800" b="1" dirty="0"/>
              <a:t>  Time Period Covered:</a:t>
            </a:r>
            <a:br>
              <a:rPr lang="en-US" sz="1800" dirty="0"/>
            </a:br>
            <a:r>
              <a:rPr lang="en-US" sz="1800" dirty="0"/>
              <a:t>  </a:t>
            </a:r>
            <a:r>
              <a:rPr lang="en-US" sz="1800" dirty="0">
                <a:latin typeface="+mj-lt"/>
              </a:rPr>
              <a:t>Orders recorded during the year 2025</a:t>
            </a:r>
          </a:p>
          <a:p>
            <a:pPr marL="0" indent="0">
              <a:buNone/>
            </a:pPr>
            <a:endParaRPr lang="en-US" sz="1800" dirty="0">
              <a:latin typeface="+mj-lt"/>
            </a:endParaRPr>
          </a:p>
          <a:p>
            <a:pPr>
              <a:buFont typeface="Wingdings" panose="05000000000000000000" pitchFamily="2" charset="2"/>
              <a:buChar char="§"/>
            </a:pPr>
            <a:r>
              <a:rPr lang="en-US" sz="1800" b="1" dirty="0"/>
              <a:t> Data Type:</a:t>
            </a:r>
            <a:endParaRPr lang="en-US" sz="1800" dirty="0"/>
          </a:p>
          <a:p>
            <a:pPr lvl="0"/>
            <a:r>
              <a:rPr lang="en-US" sz="1800" b="1" dirty="0"/>
              <a:t>Numerical data</a:t>
            </a:r>
            <a:r>
              <a:rPr lang="en-US" sz="1800" b="1" dirty="0">
                <a:latin typeface="+mj-lt"/>
              </a:rPr>
              <a:t>:</a:t>
            </a:r>
            <a:r>
              <a:rPr lang="en-US" sz="1800" dirty="0">
                <a:latin typeface="+mj-lt"/>
              </a:rPr>
              <a:t> </a:t>
            </a:r>
            <a:r>
              <a:rPr lang="en-US" sz="1800" dirty="0" err="1">
                <a:latin typeface="+mj-lt"/>
              </a:rPr>
              <a:t>product_price</a:t>
            </a:r>
            <a:r>
              <a:rPr lang="en-US" sz="1800" dirty="0">
                <a:latin typeface="+mj-lt"/>
              </a:rPr>
              <a:t>, </a:t>
            </a:r>
            <a:r>
              <a:rPr lang="en-US" sz="1800" dirty="0" err="1">
                <a:latin typeface="+mj-lt"/>
              </a:rPr>
              <a:t>shipping_cost</a:t>
            </a:r>
            <a:r>
              <a:rPr lang="en-US" sz="1800" dirty="0">
                <a:latin typeface="+mj-lt"/>
              </a:rPr>
              <a:t>, </a:t>
            </a:r>
            <a:r>
              <a:rPr lang="en-US" sz="1800" dirty="0" err="1">
                <a:latin typeface="+mj-lt"/>
              </a:rPr>
              <a:t>assembly_cost</a:t>
            </a:r>
            <a:r>
              <a:rPr lang="en-US" sz="1800" dirty="0">
                <a:latin typeface="+mj-lt"/>
              </a:rPr>
              <a:t>, </a:t>
            </a:r>
            <a:r>
              <a:rPr lang="en-US" sz="1800" dirty="0" err="1">
                <a:latin typeface="+mj-lt"/>
              </a:rPr>
              <a:t>total_amount</a:t>
            </a:r>
            <a:r>
              <a:rPr lang="en-US" sz="1800" dirty="0">
                <a:latin typeface="+mj-lt"/>
              </a:rPr>
              <a:t>, </a:t>
            </a:r>
            <a:r>
              <a:rPr lang="en-US" sz="1800" dirty="0" err="1">
                <a:latin typeface="+mj-lt"/>
              </a:rPr>
              <a:t>delivery_window_days</a:t>
            </a:r>
            <a:r>
              <a:rPr lang="en-US" sz="1800" dirty="0">
                <a:latin typeface="+mj-lt"/>
              </a:rPr>
              <a:t>, </a:t>
            </a:r>
            <a:r>
              <a:rPr lang="en-US" sz="1800" dirty="0" err="1">
                <a:latin typeface="+mj-lt"/>
              </a:rPr>
              <a:t>customer_rating</a:t>
            </a:r>
            <a:endParaRPr lang="en-US" sz="1800" dirty="0">
              <a:latin typeface="+mj-lt"/>
            </a:endParaRPr>
          </a:p>
          <a:p>
            <a:pPr lvl="0"/>
            <a:r>
              <a:rPr lang="en-US" sz="1800" b="1" dirty="0"/>
              <a:t>Categorical data</a:t>
            </a:r>
            <a:r>
              <a:rPr lang="en-US" sz="1800" b="1" dirty="0">
                <a:latin typeface="+mj-lt"/>
              </a:rPr>
              <a:t>:</a:t>
            </a:r>
            <a:r>
              <a:rPr lang="en-US" sz="1800" dirty="0">
                <a:latin typeface="+mj-lt"/>
              </a:rPr>
              <a:t> </a:t>
            </a:r>
            <a:r>
              <a:rPr lang="en-US" sz="1800" dirty="0" err="1">
                <a:latin typeface="+mj-lt"/>
              </a:rPr>
              <a:t>product_category</a:t>
            </a:r>
            <a:r>
              <a:rPr lang="en-US" sz="1800" dirty="0">
                <a:latin typeface="+mj-lt"/>
              </a:rPr>
              <a:t>, </a:t>
            </a:r>
            <a:r>
              <a:rPr lang="en-US" sz="1800" dirty="0" err="1">
                <a:latin typeface="+mj-lt"/>
              </a:rPr>
              <a:t>product_subcategory</a:t>
            </a:r>
            <a:r>
              <a:rPr lang="en-US" sz="1800" dirty="0">
                <a:latin typeface="+mj-lt"/>
              </a:rPr>
              <a:t>, brand, </a:t>
            </a:r>
            <a:r>
              <a:rPr lang="en-US" sz="1800" dirty="0" err="1">
                <a:latin typeface="+mj-lt"/>
              </a:rPr>
              <a:t>assembly_service_requested</a:t>
            </a:r>
            <a:r>
              <a:rPr lang="en-US" sz="1800" dirty="0">
                <a:latin typeface="+mj-lt"/>
              </a:rPr>
              <a:t>, </a:t>
            </a:r>
            <a:r>
              <a:rPr lang="en-US" sz="1800" dirty="0" err="1">
                <a:latin typeface="+mj-lt"/>
              </a:rPr>
              <a:t>delivery_status</a:t>
            </a:r>
            <a:r>
              <a:rPr lang="en-US" sz="1800" dirty="0">
                <a:latin typeface="+mj-lt"/>
              </a:rPr>
              <a:t>, </a:t>
            </a:r>
            <a:r>
              <a:rPr lang="en-US" sz="1800" dirty="0" err="1">
                <a:latin typeface="+mj-lt"/>
              </a:rPr>
              <a:t>payment_method</a:t>
            </a:r>
            <a:r>
              <a:rPr lang="en-US" sz="1800" dirty="0">
                <a:latin typeface="+mj-lt"/>
              </a:rPr>
              <a:t>, </a:t>
            </a:r>
            <a:r>
              <a:rPr lang="en-US" sz="1800" dirty="0" err="1">
                <a:latin typeface="+mj-lt"/>
              </a:rPr>
              <a:t>NPS_category</a:t>
            </a:r>
            <a:endParaRPr lang="en-US" sz="1800" dirty="0">
              <a:latin typeface="+mj-lt"/>
            </a:endParaRPr>
          </a:p>
          <a:p>
            <a:pPr marL="0" indent="0">
              <a:buNone/>
            </a:pPr>
            <a:endParaRPr lang="en-US" sz="1800" dirty="0">
              <a:latin typeface="+mj-lt"/>
            </a:endParaRPr>
          </a:p>
          <a:p>
            <a:endParaRPr lang="en-US" dirty="0"/>
          </a:p>
        </p:txBody>
      </p:sp>
    </p:spTree>
    <p:extLst>
      <p:ext uri="{BB962C8B-B14F-4D97-AF65-F5344CB8AC3E}">
        <p14:creationId xmlns:p14="http://schemas.microsoft.com/office/powerpoint/2010/main" val="2276478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BB82F-38E3-3140-9FA2-2E294273C3CD}"/>
              </a:ext>
            </a:extLst>
          </p:cNvPr>
          <p:cNvSpPr>
            <a:spLocks noGrp="1"/>
          </p:cNvSpPr>
          <p:nvPr>
            <p:ph type="title"/>
          </p:nvPr>
        </p:nvSpPr>
        <p:spPr>
          <a:xfrm>
            <a:off x="747252" y="245806"/>
            <a:ext cx="10606548" cy="693175"/>
          </a:xfrm>
        </p:spPr>
        <p:txBody>
          <a:bodyPr>
            <a:normAutofit/>
          </a:bodyPr>
          <a:lstStyle/>
          <a:p>
            <a:r>
              <a:rPr lang="en-US" sz="4000" b="1" dirty="0"/>
              <a:t>4.Tools and Technology Used</a:t>
            </a:r>
          </a:p>
        </p:txBody>
      </p:sp>
      <p:sp>
        <p:nvSpPr>
          <p:cNvPr id="3" name="Content Placeholder 2">
            <a:extLst>
              <a:ext uri="{FF2B5EF4-FFF2-40B4-BE49-F238E27FC236}">
                <a16:creationId xmlns:a16="http://schemas.microsoft.com/office/drawing/2014/main" id="{ECFA8523-B9C2-BFC2-577E-8CF3B3C56C10}"/>
              </a:ext>
            </a:extLst>
          </p:cNvPr>
          <p:cNvSpPr>
            <a:spLocks noGrp="1"/>
          </p:cNvSpPr>
          <p:nvPr>
            <p:ph idx="1"/>
          </p:nvPr>
        </p:nvSpPr>
        <p:spPr>
          <a:xfrm>
            <a:off x="623290" y="993058"/>
            <a:ext cx="10945419" cy="4925961"/>
          </a:xfrm>
        </p:spPr>
        <p:txBody>
          <a:bodyPr>
            <a:normAutofit/>
          </a:bodyPr>
          <a:lstStyle/>
          <a:p>
            <a:pPr marL="342900" indent="-342900">
              <a:buFont typeface="+mj-lt"/>
              <a:buAutoNum type="arabicParenR"/>
            </a:pPr>
            <a:r>
              <a:rPr lang="en-US" sz="1800" b="1" dirty="0"/>
              <a:t>Microsoft Excel</a:t>
            </a:r>
            <a:r>
              <a:rPr lang="en-US" sz="1800" b="1" dirty="0">
                <a:latin typeface="+mj-lt"/>
              </a:rPr>
              <a:t>:</a:t>
            </a:r>
            <a:r>
              <a:rPr lang="en-US" sz="1800" dirty="0">
                <a:latin typeface="+mj-lt"/>
              </a:rPr>
              <a:t> Used for initial data inspection, quick validation, pivot tables, and basic exploratory analysis</a:t>
            </a:r>
          </a:p>
          <a:p>
            <a:pPr marL="342900" indent="-342900">
              <a:buFont typeface="+mj-lt"/>
              <a:buAutoNum type="arabicParenR"/>
            </a:pPr>
            <a:endParaRPr lang="en-US" sz="1800" dirty="0">
              <a:latin typeface="+mj-lt"/>
            </a:endParaRPr>
          </a:p>
          <a:p>
            <a:pPr marL="342900" indent="-342900">
              <a:buFont typeface="+mj-lt"/>
              <a:buAutoNum type="arabicParenR"/>
            </a:pPr>
            <a:r>
              <a:rPr lang="en-US" sz="1800" dirty="0"/>
              <a:t> </a:t>
            </a:r>
            <a:r>
              <a:rPr lang="en-US" sz="1800" b="1" dirty="0"/>
              <a:t>Python:</a:t>
            </a:r>
            <a:r>
              <a:rPr lang="en-US" sz="1800" dirty="0"/>
              <a:t> </a:t>
            </a:r>
            <a:r>
              <a:rPr lang="en-US" sz="1800" dirty="0">
                <a:latin typeface="+mj-lt"/>
              </a:rPr>
              <a:t>Used for data cleaning, preprocessing, exploratory data analysis, feature engineering, and statistical  analysis.</a:t>
            </a:r>
          </a:p>
          <a:p>
            <a:pPr marL="342900" indent="-342900">
              <a:buFont typeface="+mj-lt"/>
              <a:buAutoNum type="arabicParenR"/>
            </a:pPr>
            <a:endParaRPr lang="en-US" sz="1800" dirty="0">
              <a:latin typeface="+mj-lt"/>
            </a:endParaRPr>
          </a:p>
          <a:p>
            <a:pPr marL="342900" indent="-342900">
              <a:buFont typeface="+mj-lt"/>
              <a:buAutoNum type="arabicParenR"/>
            </a:pPr>
            <a:r>
              <a:rPr lang="en-US" sz="1800" b="1" dirty="0"/>
              <a:t>SQL</a:t>
            </a:r>
            <a:r>
              <a:rPr lang="en-US" sz="1800" b="1" dirty="0">
                <a:latin typeface="+mj-lt"/>
              </a:rPr>
              <a:t>:</a:t>
            </a:r>
            <a:r>
              <a:rPr lang="en-US" sz="1800" dirty="0">
                <a:latin typeface="+mj-lt"/>
              </a:rPr>
              <a:t> Used for data extraction, filtering, joining tables, and performing aggregations to answer business   questions.</a:t>
            </a:r>
          </a:p>
          <a:p>
            <a:pPr marL="342900" indent="-342900">
              <a:buFont typeface="+mj-lt"/>
              <a:buAutoNum type="arabicParenR"/>
            </a:pPr>
            <a:endParaRPr lang="en-US" sz="1800" dirty="0">
              <a:latin typeface="+mj-lt"/>
            </a:endParaRPr>
          </a:p>
          <a:p>
            <a:pPr marL="342900" indent="-342900">
              <a:buFont typeface="+mj-lt"/>
              <a:buAutoNum type="arabicParenR"/>
            </a:pPr>
            <a:r>
              <a:rPr lang="en-US" sz="1800" dirty="0"/>
              <a:t> </a:t>
            </a:r>
            <a:r>
              <a:rPr lang="en-US" sz="1800" b="1" dirty="0"/>
              <a:t>Power BI</a:t>
            </a:r>
            <a:r>
              <a:rPr lang="en-US" sz="1800" b="1" dirty="0">
                <a:latin typeface="+mj-lt"/>
              </a:rPr>
              <a:t>:</a:t>
            </a:r>
            <a:r>
              <a:rPr lang="en-US" sz="1800" dirty="0">
                <a:latin typeface="+mj-lt"/>
              </a:rPr>
              <a:t> Used to create interactive dashboards and visualizations for analyzing sales performance, delivery efficiency,  and customer satisfaction.</a:t>
            </a:r>
          </a:p>
          <a:p>
            <a:endParaRPr lang="en-US" sz="1800" dirty="0"/>
          </a:p>
          <a:p>
            <a:endParaRPr lang="en-US" sz="1800" dirty="0"/>
          </a:p>
        </p:txBody>
      </p:sp>
    </p:spTree>
    <p:extLst>
      <p:ext uri="{BB962C8B-B14F-4D97-AF65-F5344CB8AC3E}">
        <p14:creationId xmlns:p14="http://schemas.microsoft.com/office/powerpoint/2010/main" val="673131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37D4-446F-5BCA-F415-5A44AC28D60C}"/>
              </a:ext>
            </a:extLst>
          </p:cNvPr>
          <p:cNvSpPr>
            <a:spLocks noGrp="1"/>
          </p:cNvSpPr>
          <p:nvPr>
            <p:ph type="title"/>
          </p:nvPr>
        </p:nvSpPr>
        <p:spPr>
          <a:xfrm>
            <a:off x="838200" y="365125"/>
            <a:ext cx="9653337" cy="1078664"/>
          </a:xfrm>
        </p:spPr>
        <p:txBody>
          <a:bodyPr>
            <a:normAutofit fontScale="90000"/>
          </a:bodyPr>
          <a:lstStyle/>
          <a:p>
            <a:r>
              <a:rPr lang="en-US" b="1" dirty="0"/>
              <a:t>5. Data Cleaning and Preparation</a:t>
            </a:r>
            <a:br>
              <a:rPr lang="en-US" dirty="0"/>
            </a:br>
            <a:endParaRPr lang="en-US" dirty="0"/>
          </a:p>
        </p:txBody>
      </p:sp>
      <p:sp>
        <p:nvSpPr>
          <p:cNvPr id="3" name="Content Placeholder 2">
            <a:extLst>
              <a:ext uri="{FF2B5EF4-FFF2-40B4-BE49-F238E27FC236}">
                <a16:creationId xmlns:a16="http://schemas.microsoft.com/office/drawing/2014/main" id="{2815CF86-7AC4-2605-D5BD-35F19AB23C8E}"/>
              </a:ext>
            </a:extLst>
          </p:cNvPr>
          <p:cNvSpPr>
            <a:spLocks noGrp="1"/>
          </p:cNvSpPr>
          <p:nvPr>
            <p:ph idx="1"/>
          </p:nvPr>
        </p:nvSpPr>
        <p:spPr>
          <a:xfrm>
            <a:off x="838200" y="1090863"/>
            <a:ext cx="10515600" cy="5086100"/>
          </a:xfrm>
        </p:spPr>
        <p:txBody>
          <a:bodyPr>
            <a:normAutofit/>
          </a:bodyPr>
          <a:lstStyle/>
          <a:p>
            <a:pPr>
              <a:buFont typeface="Wingdings" panose="05000000000000000000" pitchFamily="2" charset="2"/>
              <a:buChar char="v"/>
            </a:pPr>
            <a:r>
              <a:rPr lang="en-US" b="1" dirty="0">
                <a:solidFill>
                  <a:schemeClr val="accent2"/>
                </a:solidFill>
              </a:rPr>
              <a:t>Excel</a:t>
            </a:r>
            <a:endParaRPr lang="en-US" dirty="0">
              <a:solidFill>
                <a:schemeClr val="accent2"/>
              </a:solidFill>
            </a:endParaRPr>
          </a:p>
          <a:p>
            <a:pPr marL="0" indent="0">
              <a:buNone/>
            </a:pPr>
            <a:r>
              <a:rPr lang="en-US" sz="1800" b="1" dirty="0"/>
              <a:t>Step 1: Initial Data Inspection in Excel</a:t>
            </a:r>
            <a:endParaRPr lang="en-US" sz="1800" dirty="0"/>
          </a:p>
          <a:p>
            <a:pPr marL="0" indent="0">
              <a:buNone/>
            </a:pPr>
            <a:r>
              <a:rPr lang="en-US" sz="1800" dirty="0">
                <a:latin typeface="+mj-lt"/>
              </a:rPr>
              <a:t>Microsoft Excel was used for the initial review and validation of the dataset.</a:t>
            </a:r>
          </a:p>
          <a:p>
            <a:pPr marL="0" indent="0">
              <a:buNone/>
            </a:pPr>
            <a:r>
              <a:rPr lang="en-US" sz="1800" dirty="0">
                <a:latin typeface="+mj-lt"/>
              </a:rPr>
              <a:t>• Verified column names and ensured consistency across all fields</a:t>
            </a:r>
            <a:br>
              <a:rPr lang="en-US" sz="1800" dirty="0">
                <a:latin typeface="+mj-lt"/>
              </a:rPr>
            </a:br>
            <a:r>
              <a:rPr lang="en-US" sz="1800" dirty="0">
                <a:latin typeface="+mj-lt"/>
              </a:rPr>
              <a:t>• Checked for missing, blank, and duplicate values in key columns such as </a:t>
            </a:r>
            <a:r>
              <a:rPr lang="en-US" sz="1800" dirty="0" err="1">
                <a:latin typeface="+mj-lt"/>
              </a:rPr>
              <a:t>order_id</a:t>
            </a:r>
            <a:r>
              <a:rPr lang="en-US" sz="1800" dirty="0">
                <a:latin typeface="+mj-lt"/>
              </a:rPr>
              <a:t> and    </a:t>
            </a:r>
            <a:r>
              <a:rPr lang="en-US" sz="1800" dirty="0" err="1">
                <a:latin typeface="+mj-lt"/>
              </a:rPr>
              <a:t>customer_id</a:t>
            </a:r>
            <a:br>
              <a:rPr lang="en-US" sz="1800" dirty="0">
                <a:latin typeface="+mj-lt"/>
              </a:rPr>
            </a:br>
            <a:r>
              <a:rPr lang="en-US" sz="1800" dirty="0">
                <a:latin typeface="+mj-lt"/>
              </a:rPr>
              <a:t>• Reviewed numerical fields (</a:t>
            </a:r>
            <a:r>
              <a:rPr lang="en-US" sz="1800" dirty="0" err="1">
                <a:latin typeface="+mj-lt"/>
              </a:rPr>
              <a:t>product_price</a:t>
            </a:r>
            <a:r>
              <a:rPr lang="en-US" sz="1800" dirty="0">
                <a:latin typeface="+mj-lt"/>
              </a:rPr>
              <a:t>, </a:t>
            </a:r>
            <a:r>
              <a:rPr lang="en-US" sz="1800" dirty="0" err="1">
                <a:latin typeface="+mj-lt"/>
              </a:rPr>
              <a:t>shipping_cost</a:t>
            </a:r>
            <a:r>
              <a:rPr lang="en-US" sz="1800" dirty="0">
                <a:latin typeface="+mj-lt"/>
              </a:rPr>
              <a:t>, </a:t>
            </a:r>
            <a:r>
              <a:rPr lang="en-US" sz="1800" dirty="0" err="1">
                <a:latin typeface="+mj-lt"/>
              </a:rPr>
              <a:t>assembly_cost</a:t>
            </a:r>
            <a:r>
              <a:rPr lang="en-US" sz="1800" dirty="0">
                <a:latin typeface="+mj-lt"/>
              </a:rPr>
              <a:t>, </a:t>
            </a:r>
            <a:r>
              <a:rPr lang="en-US" sz="1800" dirty="0" err="1">
                <a:latin typeface="+mj-lt"/>
              </a:rPr>
              <a:t>total_amount</a:t>
            </a:r>
            <a:r>
              <a:rPr lang="en-US" sz="1800" dirty="0">
                <a:latin typeface="+mj-lt"/>
              </a:rPr>
              <a:t>) for invalid or negative values</a:t>
            </a:r>
            <a:br>
              <a:rPr lang="en-US" sz="1800" dirty="0">
                <a:latin typeface="+mj-lt"/>
              </a:rPr>
            </a:br>
            <a:r>
              <a:rPr lang="en-US" sz="1800" dirty="0">
                <a:latin typeface="+mj-lt"/>
              </a:rPr>
              <a:t>• Inspected categorical columns for spelling inconsistencies and standardized values where required</a:t>
            </a:r>
            <a:br>
              <a:rPr lang="en-US" sz="1800" dirty="0">
                <a:latin typeface="+mj-lt"/>
              </a:rPr>
            </a:br>
            <a:r>
              <a:rPr lang="en-US" sz="1800" dirty="0">
                <a:latin typeface="+mj-lt"/>
              </a:rPr>
              <a:t>• Used pivot tables to perform a preliminary review of sales totals, delivery status counts, and rating distributions</a:t>
            </a:r>
          </a:p>
          <a:p>
            <a:endParaRPr lang="en-US" dirty="0"/>
          </a:p>
        </p:txBody>
      </p:sp>
    </p:spTree>
    <p:extLst>
      <p:ext uri="{BB962C8B-B14F-4D97-AF65-F5344CB8AC3E}">
        <p14:creationId xmlns:p14="http://schemas.microsoft.com/office/powerpoint/2010/main" val="350585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26F839-6D45-070B-0DA8-A99D99D5B99F}"/>
              </a:ext>
            </a:extLst>
          </p:cNvPr>
          <p:cNvSpPr>
            <a:spLocks noGrp="1"/>
          </p:cNvSpPr>
          <p:nvPr>
            <p:ph idx="1"/>
          </p:nvPr>
        </p:nvSpPr>
        <p:spPr>
          <a:xfrm>
            <a:off x="838200" y="593558"/>
            <a:ext cx="10515600" cy="5583405"/>
          </a:xfrm>
        </p:spPr>
        <p:txBody>
          <a:bodyPr>
            <a:normAutofit/>
          </a:bodyPr>
          <a:lstStyle/>
          <a:p>
            <a:pPr marL="0" indent="0">
              <a:buNone/>
            </a:pPr>
            <a:r>
              <a:rPr lang="en-US" sz="1800" b="1" dirty="0"/>
              <a:t>Step 2: Data Cleaning and Transformation</a:t>
            </a:r>
            <a:endParaRPr lang="en-US" sz="1800" dirty="0"/>
          </a:p>
          <a:p>
            <a:pPr marL="0" indent="0">
              <a:buNone/>
            </a:pPr>
            <a:r>
              <a:rPr lang="en-US" sz="1800" dirty="0">
                <a:latin typeface="+mj-lt"/>
              </a:rPr>
              <a:t>• Removed duplicate records based on </a:t>
            </a:r>
            <a:r>
              <a:rPr lang="en-US" sz="1800" dirty="0" err="1">
                <a:latin typeface="+mj-lt"/>
              </a:rPr>
              <a:t>order_id</a:t>
            </a:r>
            <a:br>
              <a:rPr lang="en-US" sz="1800" dirty="0">
                <a:latin typeface="+mj-lt"/>
              </a:rPr>
            </a:br>
            <a:r>
              <a:rPr lang="en-US" sz="1800" dirty="0">
                <a:latin typeface="+mj-lt"/>
              </a:rPr>
              <a:t>• Replaced missing numerical values with appropriate defaults (e.g., </a:t>
            </a:r>
            <a:r>
              <a:rPr lang="en-US" sz="1800" dirty="0" err="1">
                <a:latin typeface="+mj-lt"/>
              </a:rPr>
              <a:t>assembly_cost</a:t>
            </a:r>
            <a:r>
              <a:rPr lang="en-US" sz="1800" dirty="0">
                <a:latin typeface="+mj-lt"/>
              </a:rPr>
              <a:t> set to 0 when assembly   service was not requested)</a:t>
            </a:r>
            <a:br>
              <a:rPr lang="en-US" sz="1800" dirty="0">
                <a:latin typeface="+mj-lt"/>
              </a:rPr>
            </a:br>
            <a:r>
              <a:rPr lang="en-US" sz="1800" dirty="0">
                <a:latin typeface="+mj-lt"/>
              </a:rPr>
              <a:t>• Standardized categorical values such as </a:t>
            </a:r>
            <a:r>
              <a:rPr lang="en-US" sz="1800" dirty="0" err="1">
                <a:latin typeface="+mj-lt"/>
              </a:rPr>
              <a:t>delivery_status</a:t>
            </a:r>
            <a:r>
              <a:rPr lang="en-US" sz="1800" dirty="0">
                <a:latin typeface="+mj-lt"/>
              </a:rPr>
              <a:t> and </a:t>
            </a:r>
            <a:r>
              <a:rPr lang="en-US" sz="1800" dirty="0" err="1">
                <a:latin typeface="+mj-lt"/>
              </a:rPr>
              <a:t>payment_method</a:t>
            </a:r>
            <a:br>
              <a:rPr lang="en-US" sz="1800" dirty="0">
                <a:latin typeface="+mj-lt"/>
              </a:rPr>
            </a:br>
            <a:r>
              <a:rPr lang="en-US" sz="1800" dirty="0">
                <a:latin typeface="+mj-lt"/>
              </a:rPr>
              <a:t>• Ensured correct data types were assigned to all columns</a:t>
            </a:r>
          </a:p>
          <a:p>
            <a:pPr marL="0" indent="0">
              <a:buNone/>
            </a:pPr>
            <a:endParaRPr lang="en-US" sz="1800" dirty="0">
              <a:latin typeface="+mj-lt"/>
            </a:endParaRPr>
          </a:p>
          <a:p>
            <a:pPr marL="0" indent="0">
              <a:buNone/>
            </a:pPr>
            <a:r>
              <a:rPr lang="en-US" sz="1800" b="1" dirty="0"/>
              <a:t>Step 3: Data Validation</a:t>
            </a:r>
            <a:endParaRPr lang="en-US" sz="1800" dirty="0"/>
          </a:p>
          <a:p>
            <a:pPr marL="0" indent="0">
              <a:buNone/>
            </a:pPr>
            <a:r>
              <a:rPr lang="en-US" sz="1800" dirty="0">
                <a:latin typeface="+mj-lt"/>
              </a:rPr>
              <a:t>• Cross-checked </a:t>
            </a:r>
            <a:r>
              <a:rPr lang="en-US" sz="1800" dirty="0" err="1">
                <a:latin typeface="+mj-lt"/>
              </a:rPr>
              <a:t>total_amount</a:t>
            </a:r>
            <a:r>
              <a:rPr lang="en-US" sz="1800" dirty="0">
                <a:latin typeface="+mj-lt"/>
              </a:rPr>
              <a:t> against the sum of </a:t>
            </a:r>
            <a:r>
              <a:rPr lang="en-US" sz="1800" dirty="0" err="1">
                <a:latin typeface="+mj-lt"/>
              </a:rPr>
              <a:t>product_price</a:t>
            </a:r>
            <a:r>
              <a:rPr lang="en-US" sz="1800" dirty="0">
                <a:latin typeface="+mj-lt"/>
              </a:rPr>
              <a:t>, </a:t>
            </a:r>
            <a:r>
              <a:rPr lang="en-US" sz="1800" dirty="0" err="1">
                <a:latin typeface="+mj-lt"/>
              </a:rPr>
              <a:t>shipping_cost</a:t>
            </a:r>
            <a:r>
              <a:rPr lang="en-US" sz="1800" dirty="0">
                <a:latin typeface="+mj-lt"/>
              </a:rPr>
              <a:t>, and </a:t>
            </a:r>
            <a:r>
              <a:rPr lang="en-US" sz="1800" dirty="0" err="1">
                <a:latin typeface="+mj-lt"/>
              </a:rPr>
              <a:t>assembly_cost</a:t>
            </a:r>
            <a:br>
              <a:rPr lang="en-US" sz="1800" dirty="0">
                <a:latin typeface="+mj-lt"/>
              </a:rPr>
            </a:br>
            <a:r>
              <a:rPr lang="en-US" sz="1800" dirty="0">
                <a:latin typeface="+mj-lt"/>
              </a:rPr>
              <a:t>• Identified and flagged outliers in pricing and cost fields for further analysis</a:t>
            </a:r>
          </a:p>
          <a:p>
            <a:pPr marL="0" indent="0">
              <a:buNone/>
            </a:pPr>
            <a:endParaRPr lang="en-US" sz="1800" dirty="0">
              <a:latin typeface="+mj-lt"/>
            </a:endParaRPr>
          </a:p>
          <a:p>
            <a:pPr marL="0" indent="0">
              <a:buNone/>
            </a:pPr>
            <a:r>
              <a:rPr lang="en-US" sz="1800" b="1" dirty="0"/>
              <a:t>Step 4: Prepared Dataset for Further Analysis</a:t>
            </a:r>
            <a:endParaRPr lang="en-US" sz="1800" dirty="0"/>
          </a:p>
          <a:p>
            <a:r>
              <a:rPr lang="en-US" sz="1800" dirty="0">
                <a:latin typeface="+mj-lt"/>
              </a:rPr>
              <a:t>After Excel-based cleaning, the dataset was exported for advanced analysis using Python, SQL, and Power BI.</a:t>
            </a:r>
          </a:p>
          <a:p>
            <a:pPr marL="0" indent="0">
              <a:buNone/>
            </a:pPr>
            <a:endParaRPr lang="en-US" dirty="0">
              <a:latin typeface="Bahnschrift" panose="020B0502040204020203" pitchFamily="34" charset="0"/>
            </a:endParaRPr>
          </a:p>
          <a:p>
            <a:endParaRPr lang="en-US" dirty="0"/>
          </a:p>
        </p:txBody>
      </p:sp>
    </p:spTree>
    <p:extLst>
      <p:ext uri="{BB962C8B-B14F-4D97-AF65-F5344CB8AC3E}">
        <p14:creationId xmlns:p14="http://schemas.microsoft.com/office/powerpoint/2010/main" val="344278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7EC9-AF5F-7F3B-B18A-4AD8D7365621}"/>
              </a:ext>
            </a:extLst>
          </p:cNvPr>
          <p:cNvSpPr>
            <a:spLocks noGrp="1"/>
          </p:cNvSpPr>
          <p:nvPr>
            <p:ph type="title"/>
          </p:nvPr>
        </p:nvSpPr>
        <p:spPr>
          <a:xfrm>
            <a:off x="838200" y="245979"/>
            <a:ext cx="10054389" cy="606965"/>
          </a:xfrm>
        </p:spPr>
        <p:txBody>
          <a:bodyPr>
            <a:normAutofit fontScale="90000"/>
          </a:bodyPr>
          <a:lstStyle/>
          <a:p>
            <a:br>
              <a:rPr lang="en-US" b="1" dirty="0"/>
            </a:br>
            <a:r>
              <a:rPr lang="en-US" b="1" dirty="0"/>
              <a:t>6. Exploratory Data Analysis (EDA)</a:t>
            </a:r>
            <a:br>
              <a:rPr lang="en-US" dirty="0"/>
            </a:br>
            <a:endParaRPr lang="en-US" dirty="0"/>
          </a:p>
        </p:txBody>
      </p:sp>
      <p:sp>
        <p:nvSpPr>
          <p:cNvPr id="3" name="Content Placeholder 2">
            <a:extLst>
              <a:ext uri="{FF2B5EF4-FFF2-40B4-BE49-F238E27FC236}">
                <a16:creationId xmlns:a16="http://schemas.microsoft.com/office/drawing/2014/main" id="{762E90D5-5267-D031-2E0D-5E8A664F851D}"/>
              </a:ext>
            </a:extLst>
          </p:cNvPr>
          <p:cNvSpPr>
            <a:spLocks noGrp="1"/>
          </p:cNvSpPr>
          <p:nvPr>
            <p:ph idx="1"/>
          </p:nvPr>
        </p:nvSpPr>
        <p:spPr>
          <a:xfrm>
            <a:off x="838200" y="852944"/>
            <a:ext cx="10515600" cy="5333851"/>
          </a:xfrm>
        </p:spPr>
        <p:txBody>
          <a:bodyPr/>
          <a:lstStyle/>
          <a:p>
            <a:pPr marL="342900" indent="-342900">
              <a:buFont typeface="+mj-lt"/>
              <a:buAutoNum type="arabicPeriod"/>
            </a:pPr>
            <a:r>
              <a:rPr lang="en-US" sz="1800" b="1" dirty="0">
                <a:latin typeface="+mj-lt"/>
              </a:rPr>
              <a:t>Exploratory Data Analysis (EDA)</a:t>
            </a:r>
            <a:r>
              <a:rPr lang="en-US" sz="1800" dirty="0">
                <a:latin typeface="+mj-lt"/>
              </a:rPr>
              <a:t> :was conducted to understand the structure, quality, and basic characteristics of the dataset before performing detailed analysis. This step helped identify data distributions, initial patterns, and potential anomalies that could affect further analysis.</a:t>
            </a:r>
            <a:endParaRPr lang="en-US" dirty="0">
              <a:latin typeface="+mj-lt"/>
            </a:endParaRPr>
          </a:p>
        </p:txBody>
      </p:sp>
      <p:pic>
        <p:nvPicPr>
          <p:cNvPr id="5" name="Picture 4">
            <a:extLst>
              <a:ext uri="{FF2B5EF4-FFF2-40B4-BE49-F238E27FC236}">
                <a16:creationId xmlns:a16="http://schemas.microsoft.com/office/drawing/2014/main" id="{958919A3-4748-91A6-82C5-D5EF0C0BA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8320" y="2087239"/>
            <a:ext cx="4867656" cy="2781518"/>
          </a:xfrm>
          <a:prstGeom prst="rect">
            <a:avLst/>
          </a:prstGeom>
        </p:spPr>
      </p:pic>
      <p:sp>
        <p:nvSpPr>
          <p:cNvPr id="6" name="TextBox 5">
            <a:extLst>
              <a:ext uri="{FF2B5EF4-FFF2-40B4-BE49-F238E27FC236}">
                <a16:creationId xmlns:a16="http://schemas.microsoft.com/office/drawing/2014/main" id="{035D9DA7-DDC0-5CAD-BB25-87825B2812F5}"/>
              </a:ext>
            </a:extLst>
          </p:cNvPr>
          <p:cNvSpPr txBox="1"/>
          <p:nvPr/>
        </p:nvSpPr>
        <p:spPr>
          <a:xfrm>
            <a:off x="838200" y="5141740"/>
            <a:ext cx="10515600" cy="1200329"/>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Fig 5.1 :Basic descriptive statistics such as mean, median, minimum, maximum, and standard deviation were calculated for key numerical variables including sales value, delivery time, customer ratings, and order quantity to understand data distribution and central tendencies.</a:t>
            </a:r>
          </a:p>
          <a:p>
            <a:endParaRPr lang="en-US" dirty="0"/>
          </a:p>
        </p:txBody>
      </p:sp>
    </p:spTree>
    <p:extLst>
      <p:ext uri="{BB962C8B-B14F-4D97-AF65-F5344CB8AC3E}">
        <p14:creationId xmlns:p14="http://schemas.microsoft.com/office/powerpoint/2010/main" val="2693957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081349AA-17F9-1673-76CB-88452D4DCC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0431" y="852511"/>
            <a:ext cx="5089868" cy="4351338"/>
          </a:xfrm>
        </p:spPr>
      </p:pic>
      <p:pic>
        <p:nvPicPr>
          <p:cNvPr id="13" name="Picture 12">
            <a:extLst>
              <a:ext uri="{FF2B5EF4-FFF2-40B4-BE49-F238E27FC236}">
                <a16:creationId xmlns:a16="http://schemas.microsoft.com/office/drawing/2014/main" id="{A8ECFBE1-A5C3-73C3-C7A2-E9FE691F12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7510" y="852511"/>
            <a:ext cx="5828468" cy="4351338"/>
          </a:xfrm>
          <a:prstGeom prst="rect">
            <a:avLst/>
          </a:prstGeom>
        </p:spPr>
      </p:pic>
      <p:sp>
        <p:nvSpPr>
          <p:cNvPr id="17" name="TextBox 16">
            <a:extLst>
              <a:ext uri="{FF2B5EF4-FFF2-40B4-BE49-F238E27FC236}">
                <a16:creationId xmlns:a16="http://schemas.microsoft.com/office/drawing/2014/main" id="{ECE34492-E9ED-9337-5FE4-309B5C7421F6}"/>
              </a:ext>
            </a:extLst>
          </p:cNvPr>
          <p:cNvSpPr txBox="1"/>
          <p:nvPr/>
        </p:nvSpPr>
        <p:spPr>
          <a:xfrm>
            <a:off x="780431" y="352471"/>
            <a:ext cx="6150076" cy="400110"/>
          </a:xfrm>
          <a:prstGeom prst="rect">
            <a:avLst/>
          </a:prstGeom>
          <a:noFill/>
        </p:spPr>
        <p:txBody>
          <a:bodyPr wrap="square">
            <a:spAutoFit/>
          </a:bodyPr>
          <a:lstStyle/>
          <a:p>
            <a:r>
              <a:rPr lang="en-US" sz="2000" dirty="0"/>
              <a:t>2.  Key Patterns and Trends</a:t>
            </a:r>
          </a:p>
        </p:txBody>
      </p:sp>
      <p:sp>
        <p:nvSpPr>
          <p:cNvPr id="19" name="TextBox 18">
            <a:extLst>
              <a:ext uri="{FF2B5EF4-FFF2-40B4-BE49-F238E27FC236}">
                <a16:creationId xmlns:a16="http://schemas.microsoft.com/office/drawing/2014/main" id="{797349CA-B00B-B948-CD3B-BF39D23A5716}"/>
              </a:ext>
            </a:extLst>
          </p:cNvPr>
          <p:cNvSpPr txBox="1"/>
          <p:nvPr/>
        </p:nvSpPr>
        <p:spPr>
          <a:xfrm>
            <a:off x="521109" y="5542212"/>
            <a:ext cx="5205398" cy="923330"/>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Fig 5.2.1: Distribution of customer ratings showing concentration of ratings between 2 and 5 with an average around 3.</a:t>
            </a:r>
          </a:p>
        </p:txBody>
      </p:sp>
      <p:sp>
        <p:nvSpPr>
          <p:cNvPr id="21" name="TextBox 20">
            <a:extLst>
              <a:ext uri="{FF2B5EF4-FFF2-40B4-BE49-F238E27FC236}">
                <a16:creationId xmlns:a16="http://schemas.microsoft.com/office/drawing/2014/main" id="{EE316310-257E-9DDB-CB0C-BCC0A5D2C254}"/>
              </a:ext>
            </a:extLst>
          </p:cNvPr>
          <p:cNvSpPr txBox="1"/>
          <p:nvPr/>
        </p:nvSpPr>
        <p:spPr>
          <a:xfrm>
            <a:off x="6096000" y="5542212"/>
            <a:ext cx="5828468" cy="923330"/>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Fig 5.2.2: Boxplot of customer ratings by delivery status showing higher ratings for delivered orders and lower, more variable ratings for failed and in-transit orders.</a:t>
            </a:r>
          </a:p>
        </p:txBody>
      </p:sp>
    </p:spTree>
    <p:extLst>
      <p:ext uri="{BB962C8B-B14F-4D97-AF65-F5344CB8AC3E}">
        <p14:creationId xmlns:p14="http://schemas.microsoft.com/office/powerpoint/2010/main" val="1973799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29E8C-8308-2203-2092-450CB3CC925E}"/>
              </a:ext>
            </a:extLst>
          </p:cNvPr>
          <p:cNvSpPr>
            <a:spLocks noGrp="1"/>
          </p:cNvSpPr>
          <p:nvPr>
            <p:ph idx="1"/>
          </p:nvPr>
        </p:nvSpPr>
        <p:spPr>
          <a:xfrm>
            <a:off x="838200" y="589935"/>
            <a:ext cx="10515600" cy="5587028"/>
          </a:xfrm>
        </p:spPr>
        <p:txBody>
          <a:bodyPr>
            <a:normAutofit/>
          </a:bodyPr>
          <a:lstStyle/>
          <a:p>
            <a:pPr marL="0" indent="0">
              <a:buNone/>
            </a:pPr>
            <a:r>
              <a:rPr lang="en-US" sz="1800" dirty="0"/>
              <a:t>3. Outliers and Anomalies</a:t>
            </a:r>
          </a:p>
        </p:txBody>
      </p:sp>
      <p:sp>
        <p:nvSpPr>
          <p:cNvPr id="5" name="TextBox 4">
            <a:extLst>
              <a:ext uri="{FF2B5EF4-FFF2-40B4-BE49-F238E27FC236}">
                <a16:creationId xmlns:a16="http://schemas.microsoft.com/office/drawing/2014/main" id="{F2AD115C-AFDD-450B-2407-E0BB606F1BC1}"/>
              </a:ext>
            </a:extLst>
          </p:cNvPr>
          <p:cNvSpPr txBox="1"/>
          <p:nvPr/>
        </p:nvSpPr>
        <p:spPr>
          <a:xfrm>
            <a:off x="973393" y="1056400"/>
            <a:ext cx="9792929" cy="1754326"/>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Outlier detection was performed using the Interquartile Range (IQR) method on the customer rating variable. The first and third quartiles (Q1 and Q3) were computed, and observations outside the range defined by Q1 − 1.5×IQR and Q3 + 1.5×IQR were classified as potential outliers.</a:t>
            </a:r>
          </a:p>
          <a:p>
            <a:pPr marL="285750" indent="-285750">
              <a:buFont typeface="Arial" panose="020B0604020202020204" pitchFamily="34" charset="0"/>
              <a:buChar char="•"/>
            </a:pPr>
            <a:r>
              <a:rPr lang="en-US" dirty="0">
                <a:latin typeface="+mj-lt"/>
              </a:rPr>
              <a:t>The analysis indicated that no significant outliers were present in the customer ratings, as all observations fell within the acceptable statistical bounds. This suggests that the dataset is free from extreme anomalous values and that the rating distribution is stable and reliable for further analysis.</a:t>
            </a:r>
          </a:p>
        </p:txBody>
      </p:sp>
      <p:pic>
        <p:nvPicPr>
          <p:cNvPr id="7" name="Picture 6">
            <a:extLst>
              <a:ext uri="{FF2B5EF4-FFF2-40B4-BE49-F238E27FC236}">
                <a16:creationId xmlns:a16="http://schemas.microsoft.com/office/drawing/2014/main" id="{4B3978A7-C8AA-0235-0FDD-A1ED04512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361" y="2968180"/>
            <a:ext cx="9792929" cy="2242862"/>
          </a:xfrm>
          <a:prstGeom prst="rect">
            <a:avLst/>
          </a:prstGeom>
        </p:spPr>
      </p:pic>
      <p:sp>
        <p:nvSpPr>
          <p:cNvPr id="9" name="TextBox 8">
            <a:extLst>
              <a:ext uri="{FF2B5EF4-FFF2-40B4-BE49-F238E27FC236}">
                <a16:creationId xmlns:a16="http://schemas.microsoft.com/office/drawing/2014/main" id="{122713A9-BF0D-5025-D0F5-FB86F0280A7E}"/>
              </a:ext>
            </a:extLst>
          </p:cNvPr>
          <p:cNvSpPr txBox="1"/>
          <p:nvPr/>
        </p:nvSpPr>
        <p:spPr>
          <a:xfrm>
            <a:off x="1268360" y="5634306"/>
            <a:ext cx="9792929" cy="369332"/>
          </a:xfrm>
          <a:prstGeom prst="rect">
            <a:avLst/>
          </a:prstGeom>
          <a:noFill/>
        </p:spPr>
        <p:txBody>
          <a:bodyPr wrap="square">
            <a:spAutoFit/>
          </a:bodyPr>
          <a:lstStyle/>
          <a:p>
            <a:pPr marL="342900" indent="-342900">
              <a:buFont typeface="Wingdings" panose="05000000000000000000" pitchFamily="2" charset="2"/>
              <a:buChar char="Ø"/>
            </a:pPr>
            <a:r>
              <a:rPr lang="en-US" dirty="0">
                <a:latin typeface="+mj-lt"/>
              </a:rPr>
              <a:t>Fig 5.3.1: Outlier detection using the IQR method showing no significant outliers in customer ratings.</a:t>
            </a:r>
          </a:p>
        </p:txBody>
      </p:sp>
    </p:spTree>
    <p:extLst>
      <p:ext uri="{BB962C8B-B14F-4D97-AF65-F5344CB8AC3E}">
        <p14:creationId xmlns:p14="http://schemas.microsoft.com/office/powerpoint/2010/main" val="2393311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DD3030-0451-8082-5A6A-B3D15ADF6377}"/>
              </a:ext>
            </a:extLst>
          </p:cNvPr>
          <p:cNvSpPr>
            <a:spLocks noGrp="1"/>
          </p:cNvSpPr>
          <p:nvPr>
            <p:ph idx="1"/>
          </p:nvPr>
        </p:nvSpPr>
        <p:spPr>
          <a:xfrm>
            <a:off x="739878" y="1015663"/>
            <a:ext cx="10515600" cy="5138435"/>
          </a:xfrm>
        </p:spPr>
        <p:txBody>
          <a:bodyPr>
            <a:normAutofit/>
          </a:bodyPr>
          <a:lstStyle/>
          <a:p>
            <a:r>
              <a:rPr lang="en-US" sz="1800" dirty="0">
                <a:latin typeface="+mj-lt"/>
              </a:rPr>
              <a:t>This section presents the core analytical results obtained using Python to evaluate sales performance, delivery efficiency, and the key drivers of customer satisfaction.</a:t>
            </a:r>
          </a:p>
        </p:txBody>
      </p:sp>
      <p:pic>
        <p:nvPicPr>
          <p:cNvPr id="5" name="Picture 4">
            <a:extLst>
              <a:ext uri="{FF2B5EF4-FFF2-40B4-BE49-F238E27FC236}">
                <a16:creationId xmlns:a16="http://schemas.microsoft.com/office/drawing/2014/main" id="{38C014C7-23B8-B793-E4AD-F62980559D82}"/>
              </a:ext>
            </a:extLst>
          </p:cNvPr>
          <p:cNvPicPr>
            <a:picLocks noChangeAspect="1"/>
          </p:cNvPicPr>
          <p:nvPr/>
        </p:nvPicPr>
        <p:blipFill>
          <a:blip r:embed="rId2"/>
          <a:stretch>
            <a:fillRect/>
          </a:stretch>
        </p:blipFill>
        <p:spPr>
          <a:xfrm>
            <a:off x="6518786" y="1415164"/>
            <a:ext cx="3166515" cy="2340317"/>
          </a:xfrm>
          <a:prstGeom prst="rect">
            <a:avLst/>
          </a:prstGeom>
        </p:spPr>
      </p:pic>
      <p:pic>
        <p:nvPicPr>
          <p:cNvPr id="7" name="Picture 6">
            <a:extLst>
              <a:ext uri="{FF2B5EF4-FFF2-40B4-BE49-F238E27FC236}">
                <a16:creationId xmlns:a16="http://schemas.microsoft.com/office/drawing/2014/main" id="{8A3BE6B9-CD02-6EDB-5030-B739392E0B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522" y="1745059"/>
            <a:ext cx="5385620" cy="1747488"/>
          </a:xfrm>
          <a:prstGeom prst="rect">
            <a:avLst/>
          </a:prstGeom>
        </p:spPr>
      </p:pic>
      <p:sp>
        <p:nvSpPr>
          <p:cNvPr id="9" name="TextBox 8">
            <a:extLst>
              <a:ext uri="{FF2B5EF4-FFF2-40B4-BE49-F238E27FC236}">
                <a16:creationId xmlns:a16="http://schemas.microsoft.com/office/drawing/2014/main" id="{B4E8DABE-1DDE-AB92-59FC-280697AB4591}"/>
              </a:ext>
            </a:extLst>
          </p:cNvPr>
          <p:cNvSpPr txBox="1"/>
          <p:nvPr/>
        </p:nvSpPr>
        <p:spPr>
          <a:xfrm>
            <a:off x="1033040" y="4272677"/>
            <a:ext cx="9766139" cy="1754326"/>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Fig 8.1: Sales analysis shows that the Bedroom category records the highest total sales, followed by Living Room and Kitchen, indicating that these categories are the primary revenue drivers. In contrast, Office and Dining Room categories generate comparatively lower sales, reflecting weaker demand in these </a:t>
            </a:r>
            <a:r>
              <a:rPr lang="en-US" dirty="0" err="1">
                <a:latin typeface="+mj-lt"/>
              </a:rPr>
              <a:t>segments.This</a:t>
            </a:r>
            <a:r>
              <a:rPr lang="en-US" dirty="0">
                <a:latin typeface="+mj-lt"/>
              </a:rPr>
              <a:t> suggests that marketing and inventory strategies should prioritize high-performing categories while introducing targeted promotions to improve performance in underperforming product lines.</a:t>
            </a:r>
          </a:p>
        </p:txBody>
      </p:sp>
      <p:sp>
        <p:nvSpPr>
          <p:cNvPr id="11" name="TextBox 10">
            <a:extLst>
              <a:ext uri="{FF2B5EF4-FFF2-40B4-BE49-F238E27FC236}">
                <a16:creationId xmlns:a16="http://schemas.microsoft.com/office/drawing/2014/main" id="{2C73FD99-9D8F-3A9A-6064-BE26F1C7CC50}"/>
              </a:ext>
            </a:extLst>
          </p:cNvPr>
          <p:cNvSpPr txBox="1"/>
          <p:nvPr/>
        </p:nvSpPr>
        <p:spPr>
          <a:xfrm>
            <a:off x="855499" y="703902"/>
            <a:ext cx="6476224" cy="369332"/>
          </a:xfrm>
          <a:prstGeom prst="rect">
            <a:avLst/>
          </a:prstGeom>
          <a:noFill/>
        </p:spPr>
        <p:txBody>
          <a:bodyPr wrap="square">
            <a:spAutoFit/>
          </a:bodyPr>
          <a:lstStyle/>
          <a:p>
            <a:r>
              <a:rPr lang="en-US" b="1" dirty="0"/>
              <a:t>4. Sales Analysis</a:t>
            </a:r>
          </a:p>
        </p:txBody>
      </p:sp>
    </p:spTree>
    <p:extLst>
      <p:ext uri="{BB962C8B-B14F-4D97-AF65-F5344CB8AC3E}">
        <p14:creationId xmlns:p14="http://schemas.microsoft.com/office/powerpoint/2010/main" val="2366357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8A5218-9AF6-6644-2130-D70759C265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34548" y="648945"/>
            <a:ext cx="3944307" cy="5011075"/>
          </a:xfrm>
        </p:spPr>
      </p:pic>
      <p:pic>
        <p:nvPicPr>
          <p:cNvPr id="7" name="Picture 6">
            <a:extLst>
              <a:ext uri="{FF2B5EF4-FFF2-40B4-BE49-F238E27FC236}">
                <a16:creationId xmlns:a16="http://schemas.microsoft.com/office/drawing/2014/main" id="{61E5E631-0E90-CDFA-21C9-041462D15457}"/>
              </a:ext>
            </a:extLst>
          </p:cNvPr>
          <p:cNvPicPr>
            <a:picLocks noChangeAspect="1"/>
          </p:cNvPicPr>
          <p:nvPr/>
        </p:nvPicPr>
        <p:blipFill>
          <a:blip r:embed="rId3"/>
          <a:stretch>
            <a:fillRect/>
          </a:stretch>
        </p:blipFill>
        <p:spPr>
          <a:xfrm>
            <a:off x="1053296" y="799416"/>
            <a:ext cx="6681252" cy="1383019"/>
          </a:xfrm>
          <a:prstGeom prst="rect">
            <a:avLst/>
          </a:prstGeom>
        </p:spPr>
      </p:pic>
      <p:sp>
        <p:nvSpPr>
          <p:cNvPr id="9" name="TextBox 8">
            <a:extLst>
              <a:ext uri="{FF2B5EF4-FFF2-40B4-BE49-F238E27FC236}">
                <a16:creationId xmlns:a16="http://schemas.microsoft.com/office/drawing/2014/main" id="{DEA476BF-443F-BED4-E405-9F34266BF5EB}"/>
              </a:ext>
            </a:extLst>
          </p:cNvPr>
          <p:cNvSpPr txBox="1"/>
          <p:nvPr/>
        </p:nvSpPr>
        <p:spPr>
          <a:xfrm>
            <a:off x="835124" y="244893"/>
            <a:ext cx="6094070" cy="369332"/>
          </a:xfrm>
          <a:prstGeom prst="rect">
            <a:avLst/>
          </a:prstGeom>
          <a:noFill/>
        </p:spPr>
        <p:txBody>
          <a:bodyPr wrap="square">
            <a:spAutoFit/>
          </a:bodyPr>
          <a:lstStyle/>
          <a:p>
            <a:r>
              <a:rPr lang="en-US" b="1" dirty="0"/>
              <a:t>5. Correlation Analysis</a:t>
            </a:r>
          </a:p>
        </p:txBody>
      </p:sp>
      <p:sp>
        <p:nvSpPr>
          <p:cNvPr id="11" name="TextBox 10">
            <a:extLst>
              <a:ext uri="{FF2B5EF4-FFF2-40B4-BE49-F238E27FC236}">
                <a16:creationId xmlns:a16="http://schemas.microsoft.com/office/drawing/2014/main" id="{1E4B0F15-4E57-5E09-199F-E61E08C7C8D3}"/>
              </a:ext>
            </a:extLst>
          </p:cNvPr>
          <p:cNvSpPr txBox="1"/>
          <p:nvPr/>
        </p:nvSpPr>
        <p:spPr>
          <a:xfrm>
            <a:off x="817760" y="2652351"/>
            <a:ext cx="6698616" cy="1754326"/>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Fig 8.2: The correlation heatmap shows a </a:t>
            </a:r>
            <a:r>
              <a:rPr lang="en-US" b="1" dirty="0">
                <a:latin typeface="+mj-lt"/>
              </a:rPr>
              <a:t>strong positive relationship between product price and total amount (r ≈ 0.99)</a:t>
            </a:r>
            <a:r>
              <a:rPr lang="en-US" dirty="0">
                <a:latin typeface="+mj-lt"/>
              </a:rPr>
              <a:t>. All other variables, including shipping cost, assembly cost, delivery window, and customer rating, show </a:t>
            </a:r>
            <a:r>
              <a:rPr lang="en-US" b="1" dirty="0">
                <a:latin typeface="+mj-lt"/>
              </a:rPr>
              <a:t>very weak or no correlation</a:t>
            </a:r>
            <a:r>
              <a:rPr lang="en-US" dirty="0">
                <a:latin typeface="+mj-lt"/>
              </a:rPr>
              <a:t>, indicating that customer satisfaction is not strongly influenced by price or cost factors.</a:t>
            </a:r>
          </a:p>
        </p:txBody>
      </p:sp>
    </p:spTree>
    <p:extLst>
      <p:ext uri="{BB962C8B-B14F-4D97-AF65-F5344CB8AC3E}">
        <p14:creationId xmlns:p14="http://schemas.microsoft.com/office/powerpoint/2010/main" val="720579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3837A-1C87-FE37-4C76-948F21181438}"/>
              </a:ext>
            </a:extLst>
          </p:cNvPr>
          <p:cNvSpPr>
            <a:spLocks noGrp="1"/>
          </p:cNvSpPr>
          <p:nvPr>
            <p:ph type="title"/>
          </p:nvPr>
        </p:nvSpPr>
        <p:spPr>
          <a:xfrm>
            <a:off x="838200" y="365126"/>
            <a:ext cx="10515600" cy="549275"/>
          </a:xfrm>
        </p:spPr>
        <p:txBody>
          <a:bodyPr>
            <a:normAutofit fontScale="90000"/>
          </a:bodyPr>
          <a:lstStyle/>
          <a:p>
            <a:r>
              <a:rPr lang="en-US" sz="4000" b="1" dirty="0"/>
              <a:t>7.SQL Analysis</a:t>
            </a:r>
          </a:p>
        </p:txBody>
      </p:sp>
      <p:sp>
        <p:nvSpPr>
          <p:cNvPr id="3" name="Content Placeholder 2">
            <a:extLst>
              <a:ext uri="{FF2B5EF4-FFF2-40B4-BE49-F238E27FC236}">
                <a16:creationId xmlns:a16="http://schemas.microsoft.com/office/drawing/2014/main" id="{1DCC846B-213C-476A-AC91-26DA7BC90108}"/>
              </a:ext>
            </a:extLst>
          </p:cNvPr>
          <p:cNvSpPr>
            <a:spLocks noGrp="1"/>
          </p:cNvSpPr>
          <p:nvPr>
            <p:ph idx="1"/>
          </p:nvPr>
        </p:nvSpPr>
        <p:spPr>
          <a:xfrm>
            <a:off x="838200" y="914401"/>
            <a:ext cx="10515600" cy="5807242"/>
          </a:xfrm>
        </p:spPr>
        <p:txBody>
          <a:bodyPr>
            <a:normAutofit/>
          </a:bodyPr>
          <a:lstStyle/>
          <a:p>
            <a:pPr marL="0" indent="0">
              <a:buNone/>
            </a:pPr>
            <a:r>
              <a:rPr lang="en-US" sz="1900" dirty="0">
                <a:latin typeface="+mj-lt"/>
              </a:rPr>
              <a:t>SQL was used as the core tool for business-level analysis on the furniture orders dataset to understand customer satisfaction, delivery performance, and service quality. It enabled efficient aggregation of large datasets and helped identify the main operational drivers behind customer dissatisfaction and loyalty.</a:t>
            </a:r>
          </a:p>
          <a:p>
            <a:pPr marL="0" indent="0">
              <a:buNone/>
            </a:pPr>
            <a:r>
              <a:rPr lang="en-US" sz="1800" b="1" dirty="0"/>
              <a:t>SQL was used to:</a:t>
            </a:r>
            <a:endParaRPr lang="en-US" sz="1800" dirty="0"/>
          </a:p>
          <a:p>
            <a:r>
              <a:rPr lang="en-US" sz="1800" dirty="0">
                <a:latin typeface="+mj-lt"/>
              </a:rPr>
              <a:t>Calculate key KPIs such as Average Rating and Net Promoter Score (NPS)</a:t>
            </a:r>
          </a:p>
          <a:p>
            <a:r>
              <a:rPr lang="en-US" sz="1800" dirty="0">
                <a:latin typeface="+mj-lt"/>
              </a:rPr>
              <a:t>Analyze the impact of delivery performance on customer satisfaction</a:t>
            </a:r>
          </a:p>
          <a:p>
            <a:r>
              <a:rPr lang="en-US" sz="1800" dirty="0">
                <a:latin typeface="+mj-lt"/>
              </a:rPr>
              <a:t>Evaluate the effectiveness of assembly service</a:t>
            </a:r>
          </a:p>
          <a:p>
            <a:r>
              <a:rPr lang="en-US" sz="1800" dirty="0">
                <a:latin typeface="+mj-lt"/>
              </a:rPr>
              <a:t>Identify underperforming product categories</a:t>
            </a:r>
          </a:p>
          <a:p>
            <a:r>
              <a:rPr lang="en-US" sz="1800" dirty="0">
                <a:latin typeface="+mj-lt"/>
              </a:rPr>
              <a:t>Segment high-value customers and assess their risk</a:t>
            </a:r>
          </a:p>
          <a:p>
            <a:r>
              <a:rPr lang="en-US" sz="1800" dirty="0">
                <a:latin typeface="+mj-lt"/>
              </a:rPr>
              <a:t>Prepare structured data for Power BI visualization and Python validation</a:t>
            </a:r>
          </a:p>
          <a:p>
            <a:endParaRPr lang="en-US" dirty="0"/>
          </a:p>
        </p:txBody>
      </p:sp>
    </p:spTree>
    <p:extLst>
      <p:ext uri="{BB962C8B-B14F-4D97-AF65-F5344CB8AC3E}">
        <p14:creationId xmlns:p14="http://schemas.microsoft.com/office/powerpoint/2010/main" val="2710458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FD01C16-EE23-9655-4740-ACB069635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338" y="2951169"/>
            <a:ext cx="5763183" cy="1902402"/>
          </a:xfrm>
          <a:prstGeom prst="rect">
            <a:avLst/>
          </a:prstGeom>
        </p:spPr>
      </p:pic>
      <p:pic>
        <p:nvPicPr>
          <p:cNvPr id="17" name="Content Placeholder 16">
            <a:extLst>
              <a:ext uri="{FF2B5EF4-FFF2-40B4-BE49-F238E27FC236}">
                <a16:creationId xmlns:a16="http://schemas.microsoft.com/office/drawing/2014/main" id="{C2252107-45AB-89DC-1957-8A7A746D75F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55406" y="1164663"/>
            <a:ext cx="5653549" cy="1513968"/>
          </a:xfrm>
        </p:spPr>
      </p:pic>
      <p:sp>
        <p:nvSpPr>
          <p:cNvPr id="18" name="TextBox 17">
            <a:extLst>
              <a:ext uri="{FF2B5EF4-FFF2-40B4-BE49-F238E27FC236}">
                <a16:creationId xmlns:a16="http://schemas.microsoft.com/office/drawing/2014/main" id="{D9C8D872-BAE4-8380-8712-345FEE9D91CF}"/>
              </a:ext>
            </a:extLst>
          </p:cNvPr>
          <p:cNvSpPr txBox="1"/>
          <p:nvPr/>
        </p:nvSpPr>
        <p:spPr>
          <a:xfrm>
            <a:off x="855406" y="489294"/>
            <a:ext cx="5691115" cy="369332"/>
          </a:xfrm>
          <a:prstGeom prst="rect">
            <a:avLst/>
          </a:prstGeom>
          <a:noFill/>
        </p:spPr>
        <p:txBody>
          <a:bodyPr wrap="square" rtlCol="0">
            <a:spAutoFit/>
          </a:bodyPr>
          <a:lstStyle/>
          <a:p>
            <a:r>
              <a:rPr lang="en-US" b="1" dirty="0"/>
              <a:t> 1. </a:t>
            </a:r>
            <a:r>
              <a:rPr lang="en-US" b="1" dirty="0">
                <a:cs typeface="Arial" panose="020B0604020202020204" pitchFamily="34" charset="0"/>
              </a:rPr>
              <a:t>What is the overall customer satisfaction level</a:t>
            </a:r>
          </a:p>
        </p:txBody>
      </p:sp>
      <p:sp>
        <p:nvSpPr>
          <p:cNvPr id="19" name="TextBox 18">
            <a:extLst>
              <a:ext uri="{FF2B5EF4-FFF2-40B4-BE49-F238E27FC236}">
                <a16:creationId xmlns:a16="http://schemas.microsoft.com/office/drawing/2014/main" id="{4BAECAA5-036F-C96A-D9EB-02A01F25B874}"/>
              </a:ext>
            </a:extLst>
          </p:cNvPr>
          <p:cNvSpPr txBox="1"/>
          <p:nvPr/>
        </p:nvSpPr>
        <p:spPr>
          <a:xfrm>
            <a:off x="783338" y="4985451"/>
            <a:ext cx="6959919" cy="707886"/>
          </a:xfrm>
          <a:prstGeom prst="rect">
            <a:avLst/>
          </a:prstGeom>
          <a:noFill/>
        </p:spPr>
        <p:txBody>
          <a:bodyPr wrap="none" rtlCol="0">
            <a:spAutoFit/>
          </a:bodyPr>
          <a:lstStyle/>
          <a:p>
            <a:pPr marL="342900" indent="-342900">
              <a:buFont typeface="Wingdings" panose="05000000000000000000" pitchFamily="2" charset="2"/>
              <a:buChar char="Ø"/>
            </a:pPr>
            <a:r>
              <a:rPr lang="en-US" sz="2000" b="1" dirty="0"/>
              <a:t>Business Insight:</a:t>
            </a:r>
            <a:br>
              <a:rPr lang="en-US" dirty="0"/>
            </a:br>
            <a:r>
              <a:rPr lang="en-US" sz="2000" dirty="0">
                <a:latin typeface="+mj-lt"/>
              </a:rPr>
              <a:t>Provides a high-level indicator of customer experience health.</a:t>
            </a:r>
          </a:p>
        </p:txBody>
      </p:sp>
    </p:spTree>
    <p:extLst>
      <p:ext uri="{BB962C8B-B14F-4D97-AF65-F5344CB8AC3E}">
        <p14:creationId xmlns:p14="http://schemas.microsoft.com/office/powerpoint/2010/main" val="2962569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11F94B-6699-F39A-7C5B-086B26CFB8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3977" y="1188965"/>
            <a:ext cx="5534797" cy="1448002"/>
          </a:xfrm>
        </p:spPr>
      </p:pic>
      <p:pic>
        <p:nvPicPr>
          <p:cNvPr id="11" name="Picture 10">
            <a:extLst>
              <a:ext uri="{FF2B5EF4-FFF2-40B4-BE49-F238E27FC236}">
                <a16:creationId xmlns:a16="http://schemas.microsoft.com/office/drawing/2014/main" id="{D26D8201-E2F8-3C4B-2DBB-641183DFD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741" y="2931688"/>
            <a:ext cx="4611206" cy="2314079"/>
          </a:xfrm>
          <a:prstGeom prst="rect">
            <a:avLst/>
          </a:prstGeom>
        </p:spPr>
      </p:pic>
      <p:sp>
        <p:nvSpPr>
          <p:cNvPr id="12" name="TextBox 11">
            <a:extLst>
              <a:ext uri="{FF2B5EF4-FFF2-40B4-BE49-F238E27FC236}">
                <a16:creationId xmlns:a16="http://schemas.microsoft.com/office/drawing/2014/main" id="{9FBAECB3-C30E-90A4-E890-E510BB26094E}"/>
              </a:ext>
            </a:extLst>
          </p:cNvPr>
          <p:cNvSpPr txBox="1"/>
          <p:nvPr/>
        </p:nvSpPr>
        <p:spPr>
          <a:xfrm>
            <a:off x="810259" y="639009"/>
            <a:ext cx="5851795" cy="369332"/>
          </a:xfrm>
          <a:prstGeom prst="rect">
            <a:avLst/>
          </a:prstGeom>
          <a:noFill/>
        </p:spPr>
        <p:txBody>
          <a:bodyPr wrap="none" rtlCol="0">
            <a:spAutoFit/>
          </a:bodyPr>
          <a:lstStyle/>
          <a:p>
            <a:r>
              <a:rPr lang="en-US" b="1" dirty="0"/>
              <a:t>2.Does delivery performance impact customer satisfaction?</a:t>
            </a:r>
          </a:p>
        </p:txBody>
      </p:sp>
      <p:sp>
        <p:nvSpPr>
          <p:cNvPr id="13" name="TextBox 12">
            <a:extLst>
              <a:ext uri="{FF2B5EF4-FFF2-40B4-BE49-F238E27FC236}">
                <a16:creationId xmlns:a16="http://schemas.microsoft.com/office/drawing/2014/main" id="{7D6C95DC-F449-0D8C-1A1F-89EB409973A2}"/>
              </a:ext>
            </a:extLst>
          </p:cNvPr>
          <p:cNvSpPr txBox="1"/>
          <p:nvPr/>
        </p:nvSpPr>
        <p:spPr>
          <a:xfrm>
            <a:off x="810259" y="5484369"/>
            <a:ext cx="8203015" cy="646331"/>
          </a:xfrm>
          <a:prstGeom prst="rect">
            <a:avLst/>
          </a:prstGeom>
          <a:noFill/>
        </p:spPr>
        <p:txBody>
          <a:bodyPr wrap="none" rtlCol="0">
            <a:spAutoFit/>
          </a:bodyPr>
          <a:lstStyle/>
          <a:p>
            <a:pPr marL="285750" indent="-285750">
              <a:buFont typeface="Wingdings" panose="05000000000000000000" pitchFamily="2" charset="2"/>
              <a:buChar char="Ø"/>
            </a:pPr>
            <a:r>
              <a:rPr lang="en-US" b="1" dirty="0"/>
              <a:t>Business Insight:</a:t>
            </a:r>
            <a:br>
              <a:rPr lang="en-US" dirty="0"/>
            </a:br>
            <a:r>
              <a:rPr lang="en-US" dirty="0"/>
              <a:t>Identifies whether delayed or failed deliveries are major drivers of dissatisfaction.</a:t>
            </a:r>
          </a:p>
        </p:txBody>
      </p:sp>
    </p:spTree>
    <p:extLst>
      <p:ext uri="{BB962C8B-B14F-4D97-AF65-F5344CB8AC3E}">
        <p14:creationId xmlns:p14="http://schemas.microsoft.com/office/powerpoint/2010/main" val="381145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AD248E5-C3EA-99BE-1E52-621567993E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700" y="960824"/>
            <a:ext cx="7030431" cy="1467055"/>
          </a:xfrm>
        </p:spPr>
      </p:pic>
      <p:pic>
        <p:nvPicPr>
          <p:cNvPr id="11" name="Picture 10">
            <a:extLst>
              <a:ext uri="{FF2B5EF4-FFF2-40B4-BE49-F238E27FC236}">
                <a16:creationId xmlns:a16="http://schemas.microsoft.com/office/drawing/2014/main" id="{5D3EE50B-E449-F65C-3B58-B43201002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564" y="2618684"/>
            <a:ext cx="4286077" cy="3039573"/>
          </a:xfrm>
          <a:prstGeom prst="rect">
            <a:avLst/>
          </a:prstGeom>
        </p:spPr>
      </p:pic>
      <p:sp>
        <p:nvSpPr>
          <p:cNvPr id="12" name="TextBox 11">
            <a:extLst>
              <a:ext uri="{FF2B5EF4-FFF2-40B4-BE49-F238E27FC236}">
                <a16:creationId xmlns:a16="http://schemas.microsoft.com/office/drawing/2014/main" id="{C1C2D18D-E0AB-1AE5-C2DC-F4F035E5317B}"/>
              </a:ext>
            </a:extLst>
          </p:cNvPr>
          <p:cNvSpPr txBox="1"/>
          <p:nvPr/>
        </p:nvSpPr>
        <p:spPr>
          <a:xfrm>
            <a:off x="716794" y="347955"/>
            <a:ext cx="5419945" cy="369332"/>
          </a:xfrm>
          <a:prstGeom prst="rect">
            <a:avLst/>
          </a:prstGeom>
          <a:noFill/>
        </p:spPr>
        <p:txBody>
          <a:bodyPr wrap="none" rtlCol="0">
            <a:spAutoFit/>
          </a:bodyPr>
          <a:lstStyle/>
          <a:p>
            <a:r>
              <a:rPr lang="en-US" b="1" dirty="0"/>
              <a:t>3.How does delivery time affect customer satisfaction?</a:t>
            </a:r>
          </a:p>
        </p:txBody>
      </p:sp>
      <p:sp>
        <p:nvSpPr>
          <p:cNvPr id="13" name="TextBox 12">
            <a:extLst>
              <a:ext uri="{FF2B5EF4-FFF2-40B4-BE49-F238E27FC236}">
                <a16:creationId xmlns:a16="http://schemas.microsoft.com/office/drawing/2014/main" id="{F3B270CB-A50B-B83A-7629-7916D5D30AA8}"/>
              </a:ext>
            </a:extLst>
          </p:cNvPr>
          <p:cNvSpPr txBox="1"/>
          <p:nvPr/>
        </p:nvSpPr>
        <p:spPr>
          <a:xfrm>
            <a:off x="716794" y="5897176"/>
            <a:ext cx="5452390" cy="646331"/>
          </a:xfrm>
          <a:prstGeom prst="rect">
            <a:avLst/>
          </a:prstGeom>
          <a:noFill/>
        </p:spPr>
        <p:txBody>
          <a:bodyPr wrap="none" rtlCol="0">
            <a:spAutoFit/>
          </a:bodyPr>
          <a:lstStyle/>
          <a:p>
            <a:pPr marL="285750" indent="-285750">
              <a:buFont typeface="Wingdings" panose="05000000000000000000" pitchFamily="2" charset="2"/>
              <a:buChar char="Ø"/>
            </a:pPr>
            <a:r>
              <a:rPr lang="en-US" b="1" dirty="0"/>
              <a:t>Business Insight:</a:t>
            </a:r>
            <a:br>
              <a:rPr lang="en-US" dirty="0"/>
            </a:br>
            <a:r>
              <a:rPr lang="en-US" dirty="0"/>
              <a:t>Reveals customer tolerance levels for delivery delays.</a:t>
            </a:r>
          </a:p>
        </p:txBody>
      </p:sp>
    </p:spTree>
    <p:extLst>
      <p:ext uri="{BB962C8B-B14F-4D97-AF65-F5344CB8AC3E}">
        <p14:creationId xmlns:p14="http://schemas.microsoft.com/office/powerpoint/2010/main" val="3947983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DBE2FBB-8D47-4AE6-D2B4-2566AE7ACC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728" y="1016130"/>
            <a:ext cx="5906324" cy="1609950"/>
          </a:xfrm>
        </p:spPr>
      </p:pic>
      <p:pic>
        <p:nvPicPr>
          <p:cNvPr id="9" name="Picture 8">
            <a:extLst>
              <a:ext uri="{FF2B5EF4-FFF2-40B4-BE49-F238E27FC236}">
                <a16:creationId xmlns:a16="http://schemas.microsoft.com/office/drawing/2014/main" id="{AB6C100B-878C-02D4-9A58-02D294F21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389" y="2805086"/>
            <a:ext cx="5599663" cy="1426835"/>
          </a:xfrm>
          <a:prstGeom prst="rect">
            <a:avLst/>
          </a:prstGeom>
        </p:spPr>
      </p:pic>
      <p:sp>
        <p:nvSpPr>
          <p:cNvPr id="10" name="TextBox 9">
            <a:extLst>
              <a:ext uri="{FF2B5EF4-FFF2-40B4-BE49-F238E27FC236}">
                <a16:creationId xmlns:a16="http://schemas.microsoft.com/office/drawing/2014/main" id="{A33FBCEC-DED5-C267-A7EE-2928C37542DC}"/>
              </a:ext>
            </a:extLst>
          </p:cNvPr>
          <p:cNvSpPr txBox="1"/>
          <p:nvPr/>
        </p:nvSpPr>
        <p:spPr>
          <a:xfrm>
            <a:off x="676273" y="557295"/>
            <a:ext cx="6348854" cy="369332"/>
          </a:xfrm>
          <a:prstGeom prst="rect">
            <a:avLst/>
          </a:prstGeom>
          <a:noFill/>
        </p:spPr>
        <p:txBody>
          <a:bodyPr wrap="none" rtlCol="0">
            <a:spAutoFit/>
          </a:bodyPr>
          <a:lstStyle/>
          <a:p>
            <a:r>
              <a:rPr lang="en-US" b="1" dirty="0"/>
              <a:t>4.Does offering assembly service improve customer satisfaction?</a:t>
            </a:r>
          </a:p>
        </p:txBody>
      </p:sp>
      <p:sp>
        <p:nvSpPr>
          <p:cNvPr id="11" name="TextBox 10">
            <a:extLst>
              <a:ext uri="{FF2B5EF4-FFF2-40B4-BE49-F238E27FC236}">
                <a16:creationId xmlns:a16="http://schemas.microsoft.com/office/drawing/2014/main" id="{391C3BF1-9CBB-2AAB-B0D2-10D40C57D7F5}"/>
              </a:ext>
            </a:extLst>
          </p:cNvPr>
          <p:cNvSpPr txBox="1"/>
          <p:nvPr/>
        </p:nvSpPr>
        <p:spPr>
          <a:xfrm>
            <a:off x="517507" y="4619800"/>
            <a:ext cx="6862328" cy="646331"/>
          </a:xfrm>
          <a:prstGeom prst="rect">
            <a:avLst/>
          </a:prstGeom>
          <a:noFill/>
        </p:spPr>
        <p:txBody>
          <a:bodyPr wrap="none" rtlCol="0">
            <a:spAutoFit/>
          </a:bodyPr>
          <a:lstStyle/>
          <a:p>
            <a:pPr marL="285750" indent="-285750">
              <a:buFont typeface="Wingdings" panose="05000000000000000000" pitchFamily="2" charset="2"/>
              <a:buChar char="Ø"/>
            </a:pPr>
            <a:r>
              <a:rPr lang="en-US" b="1" dirty="0"/>
              <a:t>Business Insight:</a:t>
            </a:r>
            <a:br>
              <a:rPr lang="en-US" dirty="0"/>
            </a:br>
            <a:r>
              <a:rPr lang="en-US" dirty="0"/>
              <a:t>Supports decisions on promoting or expanding value-added services</a:t>
            </a:r>
          </a:p>
        </p:txBody>
      </p:sp>
    </p:spTree>
    <p:extLst>
      <p:ext uri="{BB962C8B-B14F-4D97-AF65-F5344CB8AC3E}">
        <p14:creationId xmlns:p14="http://schemas.microsoft.com/office/powerpoint/2010/main" val="1807511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1A6B34-3131-D34B-5472-0D8F59D022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3097" y="993477"/>
            <a:ext cx="4991797" cy="1829055"/>
          </a:xfrm>
        </p:spPr>
      </p:pic>
      <p:pic>
        <p:nvPicPr>
          <p:cNvPr id="7" name="Picture 6">
            <a:extLst>
              <a:ext uri="{FF2B5EF4-FFF2-40B4-BE49-F238E27FC236}">
                <a16:creationId xmlns:a16="http://schemas.microsoft.com/office/drawing/2014/main" id="{91A6DB82-2947-5B25-E341-E39413FAF1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635" y="2950763"/>
            <a:ext cx="4622723" cy="2057687"/>
          </a:xfrm>
          <a:prstGeom prst="rect">
            <a:avLst/>
          </a:prstGeom>
        </p:spPr>
      </p:pic>
      <p:sp>
        <p:nvSpPr>
          <p:cNvPr id="8" name="TextBox 7">
            <a:extLst>
              <a:ext uri="{FF2B5EF4-FFF2-40B4-BE49-F238E27FC236}">
                <a16:creationId xmlns:a16="http://schemas.microsoft.com/office/drawing/2014/main" id="{DECA2B6D-656A-86DD-3C4A-D61D168C4371}"/>
              </a:ext>
            </a:extLst>
          </p:cNvPr>
          <p:cNvSpPr txBox="1"/>
          <p:nvPr/>
        </p:nvSpPr>
        <p:spPr>
          <a:xfrm>
            <a:off x="780148" y="485092"/>
            <a:ext cx="5902065" cy="369332"/>
          </a:xfrm>
          <a:prstGeom prst="rect">
            <a:avLst/>
          </a:prstGeom>
          <a:noFill/>
        </p:spPr>
        <p:txBody>
          <a:bodyPr wrap="none" rtlCol="0">
            <a:spAutoFit/>
          </a:bodyPr>
          <a:lstStyle/>
          <a:p>
            <a:r>
              <a:rPr lang="en-US" b="1" dirty="0"/>
              <a:t>5.Which product categories have low customer satisfaction?</a:t>
            </a:r>
          </a:p>
        </p:txBody>
      </p:sp>
      <p:sp>
        <p:nvSpPr>
          <p:cNvPr id="9" name="TextBox 8">
            <a:extLst>
              <a:ext uri="{FF2B5EF4-FFF2-40B4-BE49-F238E27FC236}">
                <a16:creationId xmlns:a16="http://schemas.microsoft.com/office/drawing/2014/main" id="{3B7DA0E1-4DD1-D427-068E-55EE954F875A}"/>
              </a:ext>
            </a:extLst>
          </p:cNvPr>
          <p:cNvSpPr txBox="1"/>
          <p:nvPr/>
        </p:nvSpPr>
        <p:spPr>
          <a:xfrm>
            <a:off x="780148" y="5264912"/>
            <a:ext cx="6325578" cy="923330"/>
          </a:xfrm>
          <a:prstGeom prst="rect">
            <a:avLst/>
          </a:prstGeom>
          <a:noFill/>
        </p:spPr>
        <p:txBody>
          <a:bodyPr wrap="none" rtlCol="0">
            <a:spAutoFit/>
          </a:bodyPr>
          <a:lstStyle/>
          <a:p>
            <a:pPr marL="285750" indent="-285750">
              <a:buFont typeface="Wingdings" panose="05000000000000000000" pitchFamily="2" charset="2"/>
              <a:buChar char="Ø"/>
            </a:pPr>
            <a:r>
              <a:rPr lang="en-US" b="1" dirty="0"/>
              <a:t>Business Insight:</a:t>
            </a:r>
            <a:br>
              <a:rPr lang="en-US" dirty="0"/>
            </a:br>
            <a:r>
              <a:rPr lang="en-US" dirty="0"/>
              <a:t>Helps prioritize product or logistics improvements by category.</a:t>
            </a:r>
          </a:p>
          <a:p>
            <a:endParaRPr lang="en-US" dirty="0"/>
          </a:p>
        </p:txBody>
      </p:sp>
    </p:spTree>
    <p:extLst>
      <p:ext uri="{BB962C8B-B14F-4D97-AF65-F5344CB8AC3E}">
        <p14:creationId xmlns:p14="http://schemas.microsoft.com/office/powerpoint/2010/main" val="3419689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97C1743-8955-E25D-DD98-DAFEC26573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602" y="1004252"/>
            <a:ext cx="5982535" cy="3000794"/>
          </a:xfrm>
        </p:spPr>
      </p:pic>
      <p:pic>
        <p:nvPicPr>
          <p:cNvPr id="7" name="Picture 6">
            <a:extLst>
              <a:ext uri="{FF2B5EF4-FFF2-40B4-BE49-F238E27FC236}">
                <a16:creationId xmlns:a16="http://schemas.microsoft.com/office/drawing/2014/main" id="{C5DEB712-FEFA-7F66-067A-98D5CFE8A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1573" y="4096586"/>
            <a:ext cx="5447564" cy="1276528"/>
          </a:xfrm>
          <a:prstGeom prst="rect">
            <a:avLst/>
          </a:prstGeom>
        </p:spPr>
      </p:pic>
      <p:sp>
        <p:nvSpPr>
          <p:cNvPr id="8" name="TextBox 7">
            <a:extLst>
              <a:ext uri="{FF2B5EF4-FFF2-40B4-BE49-F238E27FC236}">
                <a16:creationId xmlns:a16="http://schemas.microsoft.com/office/drawing/2014/main" id="{1A8615F2-449E-15EE-5830-0E086F3A7246}"/>
              </a:ext>
            </a:extLst>
          </p:cNvPr>
          <p:cNvSpPr txBox="1"/>
          <p:nvPr/>
        </p:nvSpPr>
        <p:spPr>
          <a:xfrm>
            <a:off x="717866" y="533459"/>
            <a:ext cx="5811271" cy="369332"/>
          </a:xfrm>
          <a:prstGeom prst="rect">
            <a:avLst/>
          </a:prstGeom>
          <a:noFill/>
        </p:spPr>
        <p:txBody>
          <a:bodyPr wrap="none" rtlCol="0">
            <a:spAutoFit/>
          </a:bodyPr>
          <a:lstStyle/>
          <a:p>
            <a:r>
              <a:rPr lang="en-US" b="1" dirty="0"/>
              <a:t>6. Are premium customers more sensitive to service issues?</a:t>
            </a:r>
          </a:p>
        </p:txBody>
      </p:sp>
      <p:sp>
        <p:nvSpPr>
          <p:cNvPr id="9" name="TextBox 8">
            <a:extLst>
              <a:ext uri="{FF2B5EF4-FFF2-40B4-BE49-F238E27FC236}">
                <a16:creationId xmlns:a16="http://schemas.microsoft.com/office/drawing/2014/main" id="{82617F2C-405F-BFF6-792B-B80099C8F140}"/>
              </a:ext>
            </a:extLst>
          </p:cNvPr>
          <p:cNvSpPr txBox="1"/>
          <p:nvPr/>
        </p:nvSpPr>
        <p:spPr>
          <a:xfrm>
            <a:off x="717866" y="5678210"/>
            <a:ext cx="7169591" cy="646331"/>
          </a:xfrm>
          <a:prstGeom prst="rect">
            <a:avLst/>
          </a:prstGeom>
          <a:noFill/>
        </p:spPr>
        <p:txBody>
          <a:bodyPr wrap="none" rtlCol="0">
            <a:spAutoFit/>
          </a:bodyPr>
          <a:lstStyle/>
          <a:p>
            <a:r>
              <a:rPr lang="en-US" b="1" dirty="0"/>
              <a:t>Business Insight:</a:t>
            </a:r>
            <a:br>
              <a:rPr lang="en-US" dirty="0"/>
            </a:br>
            <a:r>
              <a:rPr lang="en-US" dirty="0">
                <a:latin typeface="+mj-lt"/>
              </a:rPr>
              <a:t>Identifies revenue-critical customer segments at higher dissatisfaction risk</a:t>
            </a:r>
            <a:r>
              <a:rPr lang="en-US" dirty="0"/>
              <a:t>.</a:t>
            </a:r>
          </a:p>
        </p:txBody>
      </p:sp>
    </p:spTree>
    <p:extLst>
      <p:ext uri="{BB962C8B-B14F-4D97-AF65-F5344CB8AC3E}">
        <p14:creationId xmlns:p14="http://schemas.microsoft.com/office/powerpoint/2010/main" val="2186702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88CEC4-C7B4-457A-4D7C-3EA8A1B8BB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623" y="1068794"/>
            <a:ext cx="5744377" cy="1771897"/>
          </a:xfrm>
        </p:spPr>
      </p:pic>
      <p:pic>
        <p:nvPicPr>
          <p:cNvPr id="8" name="Picture 7">
            <a:extLst>
              <a:ext uri="{FF2B5EF4-FFF2-40B4-BE49-F238E27FC236}">
                <a16:creationId xmlns:a16="http://schemas.microsoft.com/office/drawing/2014/main" id="{6D760B08-B5EE-1B2C-414B-9DD148F08A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324" y="3094888"/>
            <a:ext cx="4155065" cy="1428986"/>
          </a:xfrm>
          <a:prstGeom prst="rect">
            <a:avLst/>
          </a:prstGeom>
        </p:spPr>
      </p:pic>
      <p:sp>
        <p:nvSpPr>
          <p:cNvPr id="9" name="TextBox 8">
            <a:extLst>
              <a:ext uri="{FF2B5EF4-FFF2-40B4-BE49-F238E27FC236}">
                <a16:creationId xmlns:a16="http://schemas.microsoft.com/office/drawing/2014/main" id="{54281EBD-5C73-533B-E371-4925B3866B6B}"/>
              </a:ext>
            </a:extLst>
          </p:cNvPr>
          <p:cNvSpPr txBox="1"/>
          <p:nvPr/>
        </p:nvSpPr>
        <p:spPr>
          <a:xfrm>
            <a:off x="849579" y="481514"/>
            <a:ext cx="5185351" cy="369332"/>
          </a:xfrm>
          <a:prstGeom prst="rect">
            <a:avLst/>
          </a:prstGeom>
          <a:noFill/>
        </p:spPr>
        <p:txBody>
          <a:bodyPr wrap="square" rtlCol="0">
            <a:spAutoFit/>
          </a:bodyPr>
          <a:lstStyle/>
          <a:p>
            <a:r>
              <a:rPr lang="en-US" b="1" dirty="0"/>
              <a:t>7.How damaging are failed deliveries?</a:t>
            </a:r>
          </a:p>
        </p:txBody>
      </p:sp>
      <p:sp>
        <p:nvSpPr>
          <p:cNvPr id="10" name="TextBox 9">
            <a:extLst>
              <a:ext uri="{FF2B5EF4-FFF2-40B4-BE49-F238E27FC236}">
                <a16:creationId xmlns:a16="http://schemas.microsoft.com/office/drawing/2014/main" id="{F63E4329-4D67-4C4E-D3DA-531A8AFE8EBB}"/>
              </a:ext>
            </a:extLst>
          </p:cNvPr>
          <p:cNvSpPr txBox="1"/>
          <p:nvPr/>
        </p:nvSpPr>
        <p:spPr>
          <a:xfrm>
            <a:off x="849579" y="4741822"/>
            <a:ext cx="6655092" cy="646331"/>
          </a:xfrm>
          <a:prstGeom prst="rect">
            <a:avLst/>
          </a:prstGeom>
          <a:noFill/>
        </p:spPr>
        <p:txBody>
          <a:bodyPr wrap="none" rtlCol="0">
            <a:spAutoFit/>
          </a:bodyPr>
          <a:lstStyle/>
          <a:p>
            <a:pPr marL="285750" indent="-285750">
              <a:buFont typeface="Wingdings" panose="05000000000000000000" pitchFamily="2" charset="2"/>
              <a:buChar char="Ø"/>
            </a:pPr>
            <a:r>
              <a:rPr lang="en-US" b="1" dirty="0"/>
              <a:t>Business Insight:</a:t>
            </a:r>
            <a:br>
              <a:rPr lang="en-US" dirty="0"/>
            </a:br>
            <a:r>
              <a:rPr lang="en-US" dirty="0">
                <a:latin typeface="+mj-lt"/>
              </a:rPr>
              <a:t>Quantifies the severity of service failures on customer perception.</a:t>
            </a:r>
          </a:p>
        </p:txBody>
      </p:sp>
    </p:spTree>
    <p:extLst>
      <p:ext uri="{BB962C8B-B14F-4D97-AF65-F5344CB8AC3E}">
        <p14:creationId xmlns:p14="http://schemas.microsoft.com/office/powerpoint/2010/main" val="4107102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A4445A-C984-30C7-3B88-8F9DD98DC639}"/>
              </a:ext>
            </a:extLst>
          </p:cNvPr>
          <p:cNvPicPr>
            <a:picLocks noChangeAspect="1"/>
          </p:cNvPicPr>
          <p:nvPr/>
        </p:nvPicPr>
        <p:blipFill>
          <a:blip r:embed="rId2"/>
          <a:stretch>
            <a:fillRect/>
          </a:stretch>
        </p:blipFill>
        <p:spPr>
          <a:xfrm>
            <a:off x="680720" y="1030288"/>
            <a:ext cx="10302240" cy="1434871"/>
          </a:xfrm>
          <a:prstGeom prst="rect">
            <a:avLst/>
          </a:prstGeom>
        </p:spPr>
      </p:pic>
      <p:pic>
        <p:nvPicPr>
          <p:cNvPr id="7" name="Picture 6">
            <a:extLst>
              <a:ext uri="{FF2B5EF4-FFF2-40B4-BE49-F238E27FC236}">
                <a16:creationId xmlns:a16="http://schemas.microsoft.com/office/drawing/2014/main" id="{BFF0690A-5043-9FE7-9625-5DAA11303322}"/>
              </a:ext>
            </a:extLst>
          </p:cNvPr>
          <p:cNvPicPr>
            <a:picLocks noChangeAspect="1"/>
          </p:cNvPicPr>
          <p:nvPr/>
        </p:nvPicPr>
        <p:blipFill>
          <a:blip r:embed="rId3"/>
          <a:stretch>
            <a:fillRect/>
          </a:stretch>
        </p:blipFill>
        <p:spPr>
          <a:xfrm>
            <a:off x="916930" y="2667000"/>
            <a:ext cx="4620270" cy="1019317"/>
          </a:xfrm>
          <a:prstGeom prst="rect">
            <a:avLst/>
          </a:prstGeom>
        </p:spPr>
      </p:pic>
      <p:sp>
        <p:nvSpPr>
          <p:cNvPr id="8" name="TextBox 7">
            <a:extLst>
              <a:ext uri="{FF2B5EF4-FFF2-40B4-BE49-F238E27FC236}">
                <a16:creationId xmlns:a16="http://schemas.microsoft.com/office/drawing/2014/main" id="{78E6D788-84D2-81DC-F997-B200268CE0A8}"/>
              </a:ext>
            </a:extLst>
          </p:cNvPr>
          <p:cNvSpPr txBox="1"/>
          <p:nvPr/>
        </p:nvSpPr>
        <p:spPr>
          <a:xfrm>
            <a:off x="518160" y="467360"/>
            <a:ext cx="9286240" cy="369332"/>
          </a:xfrm>
          <a:prstGeom prst="rect">
            <a:avLst/>
          </a:prstGeom>
          <a:noFill/>
        </p:spPr>
        <p:txBody>
          <a:bodyPr wrap="square" rtlCol="0">
            <a:spAutoFit/>
          </a:bodyPr>
          <a:lstStyle/>
          <a:p>
            <a:r>
              <a:rPr lang="en-US" b="1" dirty="0"/>
              <a:t>8.Total Revenue, Profit , Cost</a:t>
            </a:r>
          </a:p>
        </p:txBody>
      </p:sp>
      <p:sp>
        <p:nvSpPr>
          <p:cNvPr id="10" name="TextBox 9">
            <a:extLst>
              <a:ext uri="{FF2B5EF4-FFF2-40B4-BE49-F238E27FC236}">
                <a16:creationId xmlns:a16="http://schemas.microsoft.com/office/drawing/2014/main" id="{CBBD9EBE-B76C-112F-EAE2-68D9F2B25892}"/>
              </a:ext>
            </a:extLst>
          </p:cNvPr>
          <p:cNvSpPr txBox="1"/>
          <p:nvPr/>
        </p:nvSpPr>
        <p:spPr>
          <a:xfrm>
            <a:off x="805170" y="4073386"/>
            <a:ext cx="6096000" cy="1754326"/>
          </a:xfrm>
          <a:prstGeom prst="rect">
            <a:avLst/>
          </a:prstGeom>
          <a:noFill/>
        </p:spPr>
        <p:txBody>
          <a:bodyPr wrap="square">
            <a:spAutoFit/>
          </a:bodyPr>
          <a:lstStyle/>
          <a:p>
            <a:pPr marL="285750" indent="-285750">
              <a:buFont typeface="Wingdings" panose="05000000000000000000" pitchFamily="2" charset="2"/>
              <a:buChar char="Ø"/>
            </a:pPr>
            <a:r>
              <a:rPr lang="en-US" b="1" dirty="0"/>
              <a:t>Business Insight: </a:t>
            </a:r>
          </a:p>
          <a:p>
            <a:pPr>
              <a:buNone/>
            </a:pPr>
            <a:r>
              <a:rPr lang="en-US" dirty="0">
                <a:latin typeface="+mj-lt"/>
              </a:rPr>
              <a:t>💰 High Profitability: Profit is significantly higher than cost </a:t>
            </a:r>
          </a:p>
          <a:p>
            <a:pPr>
              <a:buFont typeface="Arial" panose="020B0604020202020204" pitchFamily="34" charset="0"/>
              <a:buChar char="•"/>
            </a:pPr>
            <a:r>
              <a:rPr lang="en-US" dirty="0">
                <a:latin typeface="+mj-lt"/>
              </a:rPr>
              <a:t>📈 Strong Margins: Indicates efficient cost management </a:t>
            </a:r>
          </a:p>
          <a:p>
            <a:pPr>
              <a:buFont typeface="Arial" panose="020B0604020202020204" pitchFamily="34" charset="0"/>
              <a:buChar char="•"/>
            </a:pPr>
            <a:r>
              <a:rPr lang="en-US" dirty="0">
                <a:latin typeface="+mj-lt"/>
              </a:rPr>
              <a:t>⚠️ Data Check: Costs may be incomplete (only shipping &amp; assembly) </a:t>
            </a:r>
          </a:p>
          <a:p>
            <a:pPr>
              <a:buFont typeface="Arial" panose="020B0604020202020204" pitchFamily="34" charset="0"/>
              <a:buChar char="•"/>
            </a:pPr>
            <a:r>
              <a:rPr lang="en-US" dirty="0">
                <a:latin typeface="+mj-lt"/>
              </a:rPr>
              <a:t>🎯 Opportunity: Business can scale or invest in growth</a:t>
            </a:r>
          </a:p>
        </p:txBody>
      </p:sp>
    </p:spTree>
    <p:extLst>
      <p:ext uri="{BB962C8B-B14F-4D97-AF65-F5344CB8AC3E}">
        <p14:creationId xmlns:p14="http://schemas.microsoft.com/office/powerpoint/2010/main" val="1094670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30B9F-FE06-EE98-E89C-DFC3901222F9}"/>
              </a:ext>
            </a:extLst>
          </p:cNvPr>
          <p:cNvSpPr>
            <a:spLocks noGrp="1"/>
          </p:cNvSpPr>
          <p:nvPr>
            <p:ph type="title"/>
          </p:nvPr>
        </p:nvSpPr>
        <p:spPr>
          <a:xfrm>
            <a:off x="838200" y="245806"/>
            <a:ext cx="10515600" cy="540776"/>
          </a:xfrm>
        </p:spPr>
        <p:txBody>
          <a:bodyPr>
            <a:normAutofit fontScale="90000"/>
          </a:bodyPr>
          <a:lstStyle/>
          <a:p>
            <a:r>
              <a:rPr lang="en-US" b="1" dirty="0"/>
              <a:t>9. Power BI Dashboard</a:t>
            </a:r>
          </a:p>
        </p:txBody>
      </p:sp>
      <p:sp>
        <p:nvSpPr>
          <p:cNvPr id="3" name="Content Placeholder 2">
            <a:extLst>
              <a:ext uri="{FF2B5EF4-FFF2-40B4-BE49-F238E27FC236}">
                <a16:creationId xmlns:a16="http://schemas.microsoft.com/office/drawing/2014/main" id="{793FB216-9EAA-0DF1-B04F-36FC63AFDBF0}"/>
              </a:ext>
            </a:extLst>
          </p:cNvPr>
          <p:cNvSpPr>
            <a:spLocks noGrp="1"/>
          </p:cNvSpPr>
          <p:nvPr>
            <p:ph idx="1"/>
          </p:nvPr>
        </p:nvSpPr>
        <p:spPr>
          <a:xfrm>
            <a:off x="838200" y="786581"/>
            <a:ext cx="10515600" cy="5378245"/>
          </a:xfrm>
        </p:spPr>
        <p:txBody>
          <a:bodyPr>
            <a:normAutofit/>
          </a:bodyPr>
          <a:lstStyle/>
          <a:p>
            <a:pPr marL="0" indent="0">
              <a:buNone/>
            </a:pPr>
            <a:r>
              <a:rPr lang="en-US" sz="2000" dirty="0">
                <a:latin typeface="+mj-lt"/>
              </a:rPr>
              <a:t>The Power BI dashboard was developed to visually communicate key insights related to customer satisfaction and operational performance in the furniture orders dataset. The dashboard was designed with a business-first approach, enabling stakeholders to quickly understand performance, identify risks, and take action.</a:t>
            </a:r>
          </a:p>
          <a:p>
            <a:pPr marL="0" indent="0">
              <a:buNone/>
            </a:pPr>
            <a:endParaRPr lang="en-US" sz="2000" dirty="0">
              <a:latin typeface="+mj-lt"/>
            </a:endParaRPr>
          </a:p>
          <a:p>
            <a:pPr marL="0" indent="0">
              <a:buNone/>
            </a:pPr>
            <a:r>
              <a:rPr lang="en-US" sz="2200" b="1" dirty="0"/>
              <a:t>KPIs Displayed</a:t>
            </a:r>
          </a:p>
          <a:p>
            <a:pPr marL="0" indent="0">
              <a:buNone/>
            </a:pPr>
            <a:r>
              <a:rPr lang="en-US" sz="1800" dirty="0">
                <a:latin typeface="+mj-lt"/>
              </a:rPr>
              <a:t>The following KPIs were included at the top of the dashboard to provide an executive summary:</a:t>
            </a:r>
          </a:p>
          <a:p>
            <a:r>
              <a:rPr lang="en-US" sz="1800" b="1" dirty="0">
                <a:latin typeface="+mj-lt"/>
              </a:rPr>
              <a:t>Total Orders</a:t>
            </a:r>
            <a:r>
              <a:rPr lang="en-US" sz="1800" dirty="0">
                <a:latin typeface="+mj-lt"/>
              </a:rPr>
              <a:t> – Indicates business volume</a:t>
            </a:r>
          </a:p>
          <a:p>
            <a:r>
              <a:rPr lang="en-US" sz="1800" b="1" dirty="0"/>
              <a:t>Total Revenue</a:t>
            </a:r>
            <a:r>
              <a:rPr lang="en-US" sz="1800" dirty="0"/>
              <a:t> – </a:t>
            </a:r>
            <a:r>
              <a:rPr lang="en-US" sz="1800" dirty="0">
                <a:latin typeface="+mj-lt"/>
              </a:rPr>
              <a:t>Reflects total business income generated</a:t>
            </a:r>
          </a:p>
          <a:p>
            <a:r>
              <a:rPr lang="en-US" sz="1800" b="1" dirty="0"/>
              <a:t>Total Profit</a:t>
            </a:r>
            <a:r>
              <a:rPr lang="en-US" sz="1800" dirty="0"/>
              <a:t> – </a:t>
            </a:r>
            <a:r>
              <a:rPr lang="en-US" sz="1800" dirty="0">
                <a:latin typeface="+mj-lt"/>
              </a:rPr>
              <a:t>Indicates overall profitability of the business</a:t>
            </a:r>
          </a:p>
          <a:p>
            <a:r>
              <a:rPr lang="en-US" sz="1800" b="1" dirty="0"/>
              <a:t>Total Cost</a:t>
            </a:r>
            <a:r>
              <a:rPr lang="en-US" sz="1800" dirty="0"/>
              <a:t> – </a:t>
            </a:r>
            <a:r>
              <a:rPr lang="en-US" sz="1800" dirty="0">
                <a:latin typeface="+mj-lt"/>
              </a:rPr>
              <a:t>Total expenses for products sold</a:t>
            </a:r>
          </a:p>
          <a:p>
            <a:r>
              <a:rPr lang="en-US" sz="1800" b="1" dirty="0"/>
              <a:t>Percentage of Detractors</a:t>
            </a:r>
            <a:r>
              <a:rPr lang="en-US" sz="1800" dirty="0"/>
              <a:t> – </a:t>
            </a:r>
            <a:r>
              <a:rPr lang="en-US" sz="1800" dirty="0">
                <a:latin typeface="+mj-lt"/>
              </a:rPr>
              <a:t>Highlights dissatisfaction risk</a:t>
            </a:r>
          </a:p>
          <a:p>
            <a:r>
              <a:rPr lang="en-US" sz="1800" b="1" dirty="0">
                <a:latin typeface="+mj-lt"/>
              </a:rPr>
              <a:t>Net Promoter Score (NPS)</a:t>
            </a:r>
            <a:r>
              <a:rPr lang="en-US" sz="1800" dirty="0">
                <a:latin typeface="+mj-lt"/>
              </a:rPr>
              <a:t> – Represents customer loyalty and churn risk</a:t>
            </a:r>
          </a:p>
          <a:p>
            <a:r>
              <a:rPr lang="en-US" sz="1800" b="1" dirty="0"/>
              <a:t>Average Customer Rating</a:t>
            </a:r>
            <a:r>
              <a:rPr lang="en-US" sz="1800" dirty="0"/>
              <a:t> – </a:t>
            </a:r>
            <a:r>
              <a:rPr lang="en-US" sz="1800" dirty="0">
                <a:latin typeface="+mj-lt"/>
              </a:rPr>
              <a:t>Measures overall satisfaction</a:t>
            </a:r>
          </a:p>
          <a:p>
            <a:endParaRPr lang="en-US" sz="1800" dirty="0">
              <a:latin typeface="+mj-lt"/>
            </a:endParaRPr>
          </a:p>
          <a:p>
            <a:pPr marL="0" indent="0">
              <a:buNone/>
            </a:pPr>
            <a:endParaRPr lang="en-US" dirty="0">
              <a:latin typeface="+mj-lt"/>
            </a:endParaRPr>
          </a:p>
        </p:txBody>
      </p:sp>
    </p:spTree>
    <p:extLst>
      <p:ext uri="{BB962C8B-B14F-4D97-AF65-F5344CB8AC3E}">
        <p14:creationId xmlns:p14="http://schemas.microsoft.com/office/powerpoint/2010/main" val="3412739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02576-879E-5771-DA58-A0921887E46E}"/>
              </a:ext>
            </a:extLst>
          </p:cNvPr>
          <p:cNvSpPr>
            <a:spLocks noGrp="1"/>
          </p:cNvSpPr>
          <p:nvPr>
            <p:ph type="title"/>
          </p:nvPr>
        </p:nvSpPr>
        <p:spPr>
          <a:xfrm>
            <a:off x="684570" y="101677"/>
            <a:ext cx="8944897" cy="556602"/>
          </a:xfrm>
        </p:spPr>
        <p:txBody>
          <a:bodyPr>
            <a:normAutofit/>
          </a:bodyPr>
          <a:lstStyle/>
          <a:p>
            <a:r>
              <a:rPr lang="en-US" sz="3200" dirty="0"/>
              <a:t>Power BI Dashboard Analysis</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1" name="Ink 10">
                <a:extLst>
                  <a:ext uri="{FF2B5EF4-FFF2-40B4-BE49-F238E27FC236}">
                    <a16:creationId xmlns:a16="http://schemas.microsoft.com/office/drawing/2014/main" id="{317AEEAD-4411-02E3-1DB6-45CADF6B3CA1}"/>
                  </a:ext>
                </a:extLst>
              </p14:cNvPr>
              <p14:cNvContentPartPr/>
              <p14:nvPr/>
            </p14:nvContentPartPr>
            <p14:xfrm>
              <a:off x="3560560" y="2708868"/>
              <a:ext cx="360" cy="360"/>
            </p14:xfrm>
          </p:contentPart>
        </mc:Choice>
        <mc:Fallback xmlns="">
          <p:pic>
            <p:nvPicPr>
              <p:cNvPr id="11" name="Ink 10">
                <a:extLst>
                  <a:ext uri="{FF2B5EF4-FFF2-40B4-BE49-F238E27FC236}">
                    <a16:creationId xmlns:a16="http://schemas.microsoft.com/office/drawing/2014/main" id="{317AEEAD-4411-02E3-1DB6-45CADF6B3CA1}"/>
                  </a:ext>
                </a:extLst>
              </p:cNvPr>
              <p:cNvPicPr/>
              <p:nvPr/>
            </p:nvPicPr>
            <p:blipFill>
              <a:blip r:embed="rId4"/>
              <a:stretch>
                <a:fillRect/>
              </a:stretch>
            </p:blipFill>
            <p:spPr>
              <a:xfrm>
                <a:off x="3551920" y="270022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696F7AE0-F657-A014-84B6-B1C3B55DB241}"/>
                  </a:ext>
                </a:extLst>
              </p14:cNvPr>
              <p14:cNvContentPartPr/>
              <p14:nvPr/>
            </p14:nvContentPartPr>
            <p14:xfrm>
              <a:off x="4326097" y="3333108"/>
              <a:ext cx="360" cy="360"/>
            </p14:xfrm>
          </p:contentPart>
        </mc:Choice>
        <mc:Fallback xmlns="">
          <p:pic>
            <p:nvPicPr>
              <p:cNvPr id="15" name="Ink 14">
                <a:extLst>
                  <a:ext uri="{FF2B5EF4-FFF2-40B4-BE49-F238E27FC236}">
                    <a16:creationId xmlns:a16="http://schemas.microsoft.com/office/drawing/2014/main" id="{696F7AE0-F657-A014-84B6-B1C3B55DB241}"/>
                  </a:ext>
                </a:extLst>
              </p:cNvPr>
              <p:cNvPicPr/>
              <p:nvPr/>
            </p:nvPicPr>
            <p:blipFill>
              <a:blip r:embed="rId6"/>
              <a:stretch>
                <a:fillRect/>
              </a:stretch>
            </p:blipFill>
            <p:spPr>
              <a:xfrm>
                <a:off x="4319977" y="3326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4C961A8D-CC46-FE5A-DC87-CB078E4A95B9}"/>
                  </a:ext>
                </a:extLst>
              </p14:cNvPr>
              <p14:cNvContentPartPr/>
              <p14:nvPr/>
            </p14:nvContentPartPr>
            <p14:xfrm>
              <a:off x="4906417" y="2851428"/>
              <a:ext cx="360" cy="360"/>
            </p14:xfrm>
          </p:contentPart>
        </mc:Choice>
        <mc:Fallback xmlns="">
          <p:pic>
            <p:nvPicPr>
              <p:cNvPr id="19" name="Ink 18">
                <a:extLst>
                  <a:ext uri="{FF2B5EF4-FFF2-40B4-BE49-F238E27FC236}">
                    <a16:creationId xmlns:a16="http://schemas.microsoft.com/office/drawing/2014/main" id="{4C961A8D-CC46-FE5A-DC87-CB078E4A95B9}"/>
                  </a:ext>
                </a:extLst>
              </p:cNvPr>
              <p:cNvPicPr/>
              <p:nvPr/>
            </p:nvPicPr>
            <p:blipFill>
              <a:blip r:embed="rId6"/>
              <a:stretch>
                <a:fillRect/>
              </a:stretch>
            </p:blipFill>
            <p:spPr>
              <a:xfrm>
                <a:off x="4900297" y="2845308"/>
                <a:ext cx="12600" cy="12600"/>
              </a:xfrm>
              <a:prstGeom prst="rect">
                <a:avLst/>
              </a:prstGeom>
            </p:spPr>
          </p:pic>
        </mc:Fallback>
      </mc:AlternateContent>
      <p:sp>
        <p:nvSpPr>
          <p:cNvPr id="36" name="TextBox 35">
            <a:extLst>
              <a:ext uri="{FF2B5EF4-FFF2-40B4-BE49-F238E27FC236}">
                <a16:creationId xmlns:a16="http://schemas.microsoft.com/office/drawing/2014/main" id="{46734BA7-DBC2-95BA-2969-1CFE76D3112D}"/>
              </a:ext>
            </a:extLst>
          </p:cNvPr>
          <p:cNvSpPr txBox="1"/>
          <p:nvPr/>
        </p:nvSpPr>
        <p:spPr>
          <a:xfrm>
            <a:off x="728426" y="610299"/>
            <a:ext cx="4450193" cy="2585323"/>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Customer satisfaction varies across categories based on ratings and order </a:t>
            </a:r>
            <a:r>
              <a:rPr lang="en-US" dirty="0" err="1">
                <a:latin typeface="+mj-lt"/>
              </a:rPr>
              <a:t>counts.The</a:t>
            </a:r>
            <a:r>
              <a:rPr lang="en-US" dirty="0">
                <a:latin typeface="+mj-lt"/>
              </a:rPr>
              <a:t> Area chart clearly explain Outdoor (338) and Living Room (333) perform better, Office (324) and Kitchen (322) show moderate results, while Bedroom (318) and Dining Room (303) record the lowest ratings and are the main drivers of dissatisfaction.</a:t>
            </a:r>
          </a:p>
        </p:txBody>
      </p:sp>
      <p:sp>
        <p:nvSpPr>
          <p:cNvPr id="17" name="TextBox 16">
            <a:extLst>
              <a:ext uri="{FF2B5EF4-FFF2-40B4-BE49-F238E27FC236}">
                <a16:creationId xmlns:a16="http://schemas.microsoft.com/office/drawing/2014/main" id="{96DF8ECB-EC3E-1A5D-F0AA-12CD3253D8C4}"/>
              </a:ext>
            </a:extLst>
          </p:cNvPr>
          <p:cNvSpPr txBox="1"/>
          <p:nvPr/>
        </p:nvSpPr>
        <p:spPr>
          <a:xfrm>
            <a:off x="594207" y="3194217"/>
            <a:ext cx="4718630" cy="341632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The Outdoor category emerges as the market leader, recording the highest volume with 338 total orders. The Living Room category follows closely, showing strong and consistent customer demand with 333 orders. Office and Kitchen categories demonstrate stable mid-level performance, with 324 and 320 orders respectively. Demand begins to decline in the Bedroom category, which registers 317 orders and trends toward the lower end. The Dining Room category ranks lowest, contributing the least with just 301 orders.</a:t>
            </a:r>
          </a:p>
        </p:txBody>
      </p:sp>
      <p:pic>
        <p:nvPicPr>
          <p:cNvPr id="5" name="Picture 4">
            <a:extLst>
              <a:ext uri="{FF2B5EF4-FFF2-40B4-BE49-F238E27FC236}">
                <a16:creationId xmlns:a16="http://schemas.microsoft.com/office/drawing/2014/main" id="{C705BF3C-4243-CCCA-6AD1-524BF546C921}"/>
              </a:ext>
            </a:extLst>
          </p:cNvPr>
          <p:cNvPicPr>
            <a:picLocks noChangeAspect="1"/>
          </p:cNvPicPr>
          <p:nvPr/>
        </p:nvPicPr>
        <p:blipFill>
          <a:blip r:embed="rId8"/>
          <a:stretch>
            <a:fillRect/>
          </a:stretch>
        </p:blipFill>
        <p:spPr>
          <a:xfrm>
            <a:off x="5583757" y="610299"/>
            <a:ext cx="6472775" cy="5834332"/>
          </a:xfrm>
          <a:prstGeom prst="rect">
            <a:avLst/>
          </a:prstGeom>
        </p:spPr>
      </p:pic>
      <p:cxnSp>
        <p:nvCxnSpPr>
          <p:cNvPr id="8" name="Straight Arrow Connector 7">
            <a:extLst>
              <a:ext uri="{FF2B5EF4-FFF2-40B4-BE49-F238E27FC236}">
                <a16:creationId xmlns:a16="http://schemas.microsoft.com/office/drawing/2014/main" id="{4691FF59-99BE-134C-1483-2F3C56929A9F}"/>
              </a:ext>
            </a:extLst>
          </p:cNvPr>
          <p:cNvCxnSpPr>
            <a:cxnSpLocks/>
          </p:cNvCxnSpPr>
          <p:nvPr/>
        </p:nvCxnSpPr>
        <p:spPr>
          <a:xfrm>
            <a:off x="5004619" y="1143268"/>
            <a:ext cx="1646579" cy="68777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7EBF793F-2285-B941-0954-8EE97B205697}"/>
              </a:ext>
            </a:extLst>
          </p:cNvPr>
          <p:cNvCxnSpPr>
            <a:cxnSpLocks/>
          </p:cNvCxnSpPr>
          <p:nvPr/>
        </p:nvCxnSpPr>
        <p:spPr>
          <a:xfrm flipV="1">
            <a:off x="5004619" y="4143045"/>
            <a:ext cx="1484671" cy="759332"/>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21418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CC1ACFF-B829-1193-F345-086E57D311B1}"/>
              </a:ext>
            </a:extLst>
          </p:cNvPr>
          <p:cNvSpPr txBox="1"/>
          <p:nvPr/>
        </p:nvSpPr>
        <p:spPr>
          <a:xfrm rot="10800000" flipH="1" flipV="1">
            <a:off x="469866" y="373625"/>
            <a:ext cx="4229953" cy="3416320"/>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With the </a:t>
            </a:r>
            <a:r>
              <a:rPr lang="en-US" i="1" dirty="0">
                <a:latin typeface="+mj-lt"/>
              </a:rPr>
              <a:t>Product Category slicer set to “Kitchen”</a:t>
            </a:r>
            <a:r>
              <a:rPr lang="en-US" dirty="0">
                <a:latin typeface="+mj-lt"/>
              </a:rPr>
              <a:t>, customer satisfaction varies significantly by delivery outcome. Delivered orders achieve the highest average rating (3.40), indicating successful fulfillment strongly enhances customer experience, while failed and cancelled deliveries receive lower ratings, highlighting delivery performance as a critical driver of dissatisfaction and a priority area for operational improvement.</a:t>
            </a:r>
          </a:p>
        </p:txBody>
      </p:sp>
      <p:sp>
        <p:nvSpPr>
          <p:cNvPr id="11" name="TextBox 10">
            <a:extLst>
              <a:ext uri="{FF2B5EF4-FFF2-40B4-BE49-F238E27FC236}">
                <a16:creationId xmlns:a16="http://schemas.microsoft.com/office/drawing/2014/main" id="{F774039E-53B2-47DA-4A90-E1550CDBF146}"/>
              </a:ext>
            </a:extLst>
          </p:cNvPr>
          <p:cNvSpPr txBox="1"/>
          <p:nvPr/>
        </p:nvSpPr>
        <p:spPr>
          <a:xfrm>
            <a:off x="469866" y="3789946"/>
            <a:ext cx="4345201"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The Avg Rating by Payment Method chart reveals that PayPal and Debit Cards are the most satisfying transaction options for customers, boasting the highest scores of 3.41 and 3.36 respectively. In contrast, digital wallets like Apple Pay and Google Pay lag behind, with Credit Card transactions showing a notable dip in satisfaction at a low 2.79. </a:t>
            </a:r>
          </a:p>
          <a:p>
            <a:pPr algn="just"/>
            <a:endParaRPr lang="en-US" dirty="0">
              <a:latin typeface="+mj-lt"/>
            </a:endParaRPr>
          </a:p>
        </p:txBody>
      </p:sp>
      <p:pic>
        <p:nvPicPr>
          <p:cNvPr id="5" name="Picture 4">
            <a:extLst>
              <a:ext uri="{FF2B5EF4-FFF2-40B4-BE49-F238E27FC236}">
                <a16:creationId xmlns:a16="http://schemas.microsoft.com/office/drawing/2014/main" id="{32B00DB0-9CC6-EC7D-CBCC-EBE155ED1B07}"/>
              </a:ext>
            </a:extLst>
          </p:cNvPr>
          <p:cNvPicPr>
            <a:picLocks noChangeAspect="1"/>
          </p:cNvPicPr>
          <p:nvPr/>
        </p:nvPicPr>
        <p:blipFill>
          <a:blip r:embed="rId2"/>
          <a:stretch>
            <a:fillRect/>
          </a:stretch>
        </p:blipFill>
        <p:spPr>
          <a:xfrm>
            <a:off x="5023413" y="373625"/>
            <a:ext cx="6907065" cy="5924435"/>
          </a:xfrm>
          <a:prstGeom prst="rect">
            <a:avLst/>
          </a:prstGeom>
        </p:spPr>
      </p:pic>
      <p:cxnSp>
        <p:nvCxnSpPr>
          <p:cNvPr id="7" name="Straight Arrow Connector 6">
            <a:extLst>
              <a:ext uri="{FF2B5EF4-FFF2-40B4-BE49-F238E27FC236}">
                <a16:creationId xmlns:a16="http://schemas.microsoft.com/office/drawing/2014/main" id="{7060FFE0-8D12-CE7A-C5EE-73B3E21ED94B}"/>
              </a:ext>
            </a:extLst>
          </p:cNvPr>
          <p:cNvCxnSpPr>
            <a:cxnSpLocks/>
          </p:cNvCxnSpPr>
          <p:nvPr/>
        </p:nvCxnSpPr>
        <p:spPr>
          <a:xfrm>
            <a:off x="4583573" y="804407"/>
            <a:ext cx="3345085" cy="985546"/>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4B8E970F-FDA5-FE77-3CE5-F1A6D906A58A}"/>
              </a:ext>
            </a:extLst>
          </p:cNvPr>
          <p:cNvCxnSpPr>
            <a:cxnSpLocks/>
          </p:cNvCxnSpPr>
          <p:nvPr/>
        </p:nvCxnSpPr>
        <p:spPr>
          <a:xfrm flipV="1">
            <a:off x="4699819" y="4191827"/>
            <a:ext cx="3344586" cy="1502917"/>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86808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CEF0C8D-6B38-5064-A367-D0416CAEEE45}"/>
              </a:ext>
            </a:extLst>
          </p:cNvPr>
          <p:cNvSpPr txBox="1"/>
          <p:nvPr/>
        </p:nvSpPr>
        <p:spPr>
          <a:xfrm>
            <a:off x="381323" y="560519"/>
            <a:ext cx="4218039" cy="646331"/>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Assembly Service Requested vs NPS Category</a:t>
            </a:r>
          </a:p>
        </p:txBody>
      </p:sp>
      <p:sp>
        <p:nvSpPr>
          <p:cNvPr id="10" name="TextBox 9">
            <a:extLst>
              <a:ext uri="{FF2B5EF4-FFF2-40B4-BE49-F238E27FC236}">
                <a16:creationId xmlns:a16="http://schemas.microsoft.com/office/drawing/2014/main" id="{2F59AD64-308F-03DC-5E05-7D68B8A70896}"/>
              </a:ext>
            </a:extLst>
          </p:cNvPr>
          <p:cNvSpPr txBox="1"/>
          <p:nvPr/>
        </p:nvSpPr>
        <p:spPr>
          <a:xfrm>
            <a:off x="550606" y="1120676"/>
            <a:ext cx="4343723" cy="2308324"/>
          </a:xfrm>
          <a:prstGeom prst="rect">
            <a:avLst/>
          </a:prstGeom>
          <a:noFill/>
        </p:spPr>
        <p:txBody>
          <a:bodyPr wrap="square" rtlCol="0">
            <a:spAutoFit/>
          </a:bodyPr>
          <a:lstStyle/>
          <a:p>
            <a:pPr algn="just"/>
            <a:r>
              <a:rPr lang="en-US" dirty="0">
                <a:latin typeface="+mj-lt"/>
              </a:rPr>
              <a:t>This chart shows that orders with assembly service have slightly more promoters (127) than orders without assembly (106), but they also generate a higher number of detractors. This indicates that while assembly service can create promoters, it is also a significant source of dissatisfaction and negatively impacts overall NPS</a:t>
            </a:r>
          </a:p>
        </p:txBody>
      </p:sp>
      <p:sp>
        <p:nvSpPr>
          <p:cNvPr id="11" name="TextBox 10">
            <a:extLst>
              <a:ext uri="{FF2B5EF4-FFF2-40B4-BE49-F238E27FC236}">
                <a16:creationId xmlns:a16="http://schemas.microsoft.com/office/drawing/2014/main" id="{E73E4C68-1041-51E0-85EE-5236053FA37D}"/>
              </a:ext>
            </a:extLst>
          </p:cNvPr>
          <p:cNvSpPr txBox="1"/>
          <p:nvPr/>
        </p:nvSpPr>
        <p:spPr>
          <a:xfrm>
            <a:off x="550606" y="191187"/>
            <a:ext cx="3165987" cy="369332"/>
          </a:xfrm>
          <a:prstGeom prst="rect">
            <a:avLst/>
          </a:prstGeom>
          <a:noFill/>
        </p:spPr>
        <p:txBody>
          <a:bodyPr wrap="square" rtlCol="0">
            <a:spAutoFit/>
          </a:bodyPr>
          <a:lstStyle/>
          <a:p>
            <a:r>
              <a:rPr lang="en-US" dirty="0">
                <a:latin typeface="+mj-lt"/>
              </a:rPr>
              <a:t>In Analysis Section</a:t>
            </a:r>
          </a:p>
        </p:txBody>
      </p:sp>
      <p:sp>
        <p:nvSpPr>
          <p:cNvPr id="15" name="TextBox 14">
            <a:extLst>
              <a:ext uri="{FF2B5EF4-FFF2-40B4-BE49-F238E27FC236}">
                <a16:creationId xmlns:a16="http://schemas.microsoft.com/office/drawing/2014/main" id="{A840B298-A811-D84C-11B8-86B5CC6C62D2}"/>
              </a:ext>
            </a:extLst>
          </p:cNvPr>
          <p:cNvSpPr txBox="1"/>
          <p:nvPr/>
        </p:nvSpPr>
        <p:spPr>
          <a:xfrm>
            <a:off x="381323" y="3581400"/>
            <a:ext cx="4731451" cy="369332"/>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mj-lt"/>
              </a:rPr>
              <a:t>Delivery window  section</a:t>
            </a:r>
          </a:p>
        </p:txBody>
      </p:sp>
      <p:sp>
        <p:nvSpPr>
          <p:cNvPr id="16" name="TextBox 15">
            <a:extLst>
              <a:ext uri="{FF2B5EF4-FFF2-40B4-BE49-F238E27FC236}">
                <a16:creationId xmlns:a16="http://schemas.microsoft.com/office/drawing/2014/main" id="{E1182BBF-3593-AA2B-249F-D59444BC187D}"/>
              </a:ext>
            </a:extLst>
          </p:cNvPr>
          <p:cNvSpPr txBox="1"/>
          <p:nvPr/>
        </p:nvSpPr>
        <p:spPr>
          <a:xfrm>
            <a:off x="529873" y="3877060"/>
            <a:ext cx="4434349" cy="2585323"/>
          </a:xfrm>
          <a:prstGeom prst="rect">
            <a:avLst/>
          </a:prstGeom>
          <a:noFill/>
        </p:spPr>
        <p:txBody>
          <a:bodyPr wrap="square" rtlCol="0">
            <a:spAutoFit/>
          </a:bodyPr>
          <a:lstStyle/>
          <a:p>
            <a:pPr algn="just"/>
            <a:r>
              <a:rPr lang="en-US" dirty="0">
                <a:latin typeface="+mj-lt"/>
              </a:rPr>
              <a:t>This chart shows that average customer ratings decline as the delivery window increases. Longer delivery durations are strongly associated with lower satisfaction and higher detractor levels, making delivery time a key driver of the negative NPS score.</a:t>
            </a:r>
            <a:r>
              <a:rPr lang="en-US" dirty="0"/>
              <a:t> </a:t>
            </a:r>
            <a:r>
              <a:rPr lang="en-US" dirty="0">
                <a:latin typeface="+mj-lt"/>
              </a:rPr>
              <a:t>strongest for delivery windows between 1 and 6 days, with higher average ratings in this range</a:t>
            </a:r>
          </a:p>
        </p:txBody>
      </p:sp>
      <p:pic>
        <p:nvPicPr>
          <p:cNvPr id="3" name="Picture 2">
            <a:extLst>
              <a:ext uri="{FF2B5EF4-FFF2-40B4-BE49-F238E27FC236}">
                <a16:creationId xmlns:a16="http://schemas.microsoft.com/office/drawing/2014/main" id="{FCF1D65A-C493-8E57-F57B-7C338DC2DF56}"/>
              </a:ext>
            </a:extLst>
          </p:cNvPr>
          <p:cNvPicPr>
            <a:picLocks noChangeAspect="1"/>
          </p:cNvPicPr>
          <p:nvPr/>
        </p:nvPicPr>
        <p:blipFill>
          <a:blip r:embed="rId3"/>
          <a:stretch>
            <a:fillRect/>
          </a:stretch>
        </p:blipFill>
        <p:spPr>
          <a:xfrm>
            <a:off x="5133505" y="375853"/>
            <a:ext cx="6767798" cy="5978648"/>
          </a:xfrm>
          <a:prstGeom prst="rect">
            <a:avLst/>
          </a:prstGeom>
        </p:spPr>
      </p:pic>
      <p:cxnSp>
        <p:nvCxnSpPr>
          <p:cNvPr id="4" name="Straight Arrow Connector 3">
            <a:extLst>
              <a:ext uri="{FF2B5EF4-FFF2-40B4-BE49-F238E27FC236}">
                <a16:creationId xmlns:a16="http://schemas.microsoft.com/office/drawing/2014/main" id="{C101CD68-319C-1315-9CFD-FBFA072A004A}"/>
              </a:ext>
            </a:extLst>
          </p:cNvPr>
          <p:cNvCxnSpPr>
            <a:cxnSpLocks/>
          </p:cNvCxnSpPr>
          <p:nvPr/>
        </p:nvCxnSpPr>
        <p:spPr>
          <a:xfrm>
            <a:off x="4423457" y="839606"/>
            <a:ext cx="1803723" cy="662904"/>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6" name="Straight Arrow Connector 5">
            <a:extLst>
              <a:ext uri="{FF2B5EF4-FFF2-40B4-BE49-F238E27FC236}">
                <a16:creationId xmlns:a16="http://schemas.microsoft.com/office/drawing/2014/main" id="{958513FD-DB77-2B01-32ED-BB70C5690CAA}"/>
              </a:ext>
            </a:extLst>
          </p:cNvPr>
          <p:cNvCxnSpPr>
            <a:cxnSpLocks/>
          </p:cNvCxnSpPr>
          <p:nvPr/>
        </p:nvCxnSpPr>
        <p:spPr>
          <a:xfrm flipV="1">
            <a:off x="4915060" y="2274838"/>
            <a:ext cx="3696505" cy="2528656"/>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945530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BCF7E15-835C-28A0-A517-22051665859E}"/>
              </a:ext>
            </a:extLst>
          </p:cNvPr>
          <p:cNvSpPr txBox="1"/>
          <p:nvPr/>
        </p:nvSpPr>
        <p:spPr>
          <a:xfrm>
            <a:off x="658761" y="324465"/>
            <a:ext cx="4404852"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Brand Performance by Product Category (Total Sales)</a:t>
            </a:r>
          </a:p>
        </p:txBody>
      </p:sp>
      <p:sp>
        <p:nvSpPr>
          <p:cNvPr id="15" name="TextBox 14">
            <a:extLst>
              <a:ext uri="{FF2B5EF4-FFF2-40B4-BE49-F238E27FC236}">
                <a16:creationId xmlns:a16="http://schemas.microsoft.com/office/drawing/2014/main" id="{E5B4D5D6-BA7F-E91F-7132-45CD0EB61611}"/>
              </a:ext>
            </a:extLst>
          </p:cNvPr>
          <p:cNvSpPr txBox="1"/>
          <p:nvPr/>
        </p:nvSpPr>
        <p:spPr>
          <a:xfrm>
            <a:off x="914400" y="1053351"/>
            <a:ext cx="4709652" cy="4247317"/>
          </a:xfrm>
          <a:prstGeom prst="rect">
            <a:avLst/>
          </a:prstGeom>
          <a:noFill/>
        </p:spPr>
        <p:txBody>
          <a:bodyPr wrap="square">
            <a:spAutoFit/>
          </a:bodyPr>
          <a:lstStyle/>
          <a:p>
            <a:pPr algn="just"/>
            <a:r>
              <a:rPr lang="en-US" dirty="0">
                <a:latin typeface="+mj-lt"/>
              </a:rPr>
              <a:t>This chart is a Heatmap Matrix tracking sales by brand and room. It uses a red color scale (darker = higher sales) and status icons—Green Circles for high performance, Yellow Triangles for average, and Red Diamonds for low—to visualize the Sum of Total Amount for each category.</a:t>
            </a:r>
          </a:p>
          <a:p>
            <a:pPr algn="just"/>
            <a:r>
              <a:rPr lang="en-US" dirty="0">
                <a:latin typeface="+mj-lt"/>
              </a:rPr>
              <a:t>The data reveals that Bedroom is the top-selling category ($516k+), while Office is the weakest ($295k+). Overstock leads all brands with over $220k in total sales, followed by Ashley Furniture. Overall, the chart shows that while brands thrive in private living spaces, they struggle to capture the home office and dining markets across a total combined revenue of $2,496,899.84.</a:t>
            </a:r>
          </a:p>
        </p:txBody>
      </p:sp>
      <p:pic>
        <p:nvPicPr>
          <p:cNvPr id="4" name="Picture 3">
            <a:extLst>
              <a:ext uri="{FF2B5EF4-FFF2-40B4-BE49-F238E27FC236}">
                <a16:creationId xmlns:a16="http://schemas.microsoft.com/office/drawing/2014/main" id="{AF5B75DD-1846-7525-7FDC-FB6514B204D7}"/>
              </a:ext>
            </a:extLst>
          </p:cNvPr>
          <p:cNvPicPr>
            <a:picLocks noChangeAspect="1"/>
          </p:cNvPicPr>
          <p:nvPr/>
        </p:nvPicPr>
        <p:blipFill>
          <a:blip r:embed="rId3"/>
          <a:stretch>
            <a:fillRect/>
          </a:stretch>
        </p:blipFill>
        <p:spPr>
          <a:xfrm>
            <a:off x="5863830" y="185195"/>
            <a:ext cx="6023370" cy="6331352"/>
          </a:xfrm>
          <a:prstGeom prst="rect">
            <a:avLst/>
          </a:prstGeom>
        </p:spPr>
      </p:pic>
      <p:cxnSp>
        <p:nvCxnSpPr>
          <p:cNvPr id="5" name="Straight Arrow Connector 4">
            <a:extLst>
              <a:ext uri="{FF2B5EF4-FFF2-40B4-BE49-F238E27FC236}">
                <a16:creationId xmlns:a16="http://schemas.microsoft.com/office/drawing/2014/main" id="{6B36DC73-74FC-9A0D-ECE8-0C82AD69995A}"/>
              </a:ext>
            </a:extLst>
          </p:cNvPr>
          <p:cNvCxnSpPr>
            <a:cxnSpLocks/>
          </p:cNvCxnSpPr>
          <p:nvPr/>
        </p:nvCxnSpPr>
        <p:spPr>
          <a:xfrm>
            <a:off x="5115527" y="736140"/>
            <a:ext cx="4025723" cy="2720051"/>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92828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EB2A1-0D09-E7E6-ED9D-C514217BFE29}"/>
              </a:ext>
            </a:extLst>
          </p:cNvPr>
          <p:cNvSpPr>
            <a:spLocks noGrp="1"/>
          </p:cNvSpPr>
          <p:nvPr>
            <p:ph idx="1"/>
          </p:nvPr>
        </p:nvSpPr>
        <p:spPr>
          <a:xfrm>
            <a:off x="550606" y="733266"/>
            <a:ext cx="4591665" cy="3170140"/>
          </a:xfrm>
        </p:spPr>
        <p:txBody>
          <a:bodyPr>
            <a:normAutofit/>
          </a:bodyPr>
          <a:lstStyle/>
          <a:p>
            <a:pPr marL="0" indent="0" algn="just">
              <a:buNone/>
            </a:pPr>
            <a:r>
              <a:rPr lang="en-US" sz="1800" dirty="0">
                <a:latin typeface="+mj-lt"/>
              </a:rPr>
              <a:t>This section compares customer satisfaction between </a:t>
            </a:r>
            <a:r>
              <a:rPr lang="en-US" sz="1800" i="1" dirty="0">
                <a:latin typeface="+mj-lt"/>
              </a:rPr>
              <a:t>Standard</a:t>
            </a:r>
            <a:r>
              <a:rPr lang="en-US" sz="1800" dirty="0">
                <a:latin typeface="+mj-lt"/>
              </a:rPr>
              <a:t> and </a:t>
            </a:r>
            <a:r>
              <a:rPr lang="en-US" sz="1800" i="1" dirty="0">
                <a:latin typeface="+mj-lt"/>
              </a:rPr>
              <a:t>High Value</a:t>
            </a:r>
            <a:r>
              <a:rPr lang="en-US" sz="1800" dirty="0">
                <a:latin typeface="+mj-lt"/>
              </a:rPr>
              <a:t> orders, where orders above 500 are classified as “High Value” and others as “Standard.” The chart shows that High Value orders receive higher average ratings than Standard orders, indicating that higher-spending customers tend to be more satisfied and report a better overall experience</a:t>
            </a:r>
            <a:r>
              <a:rPr lang="en-US" sz="1800" dirty="0"/>
              <a:t>.</a:t>
            </a:r>
          </a:p>
          <a:p>
            <a:endParaRPr lang="en-US" dirty="0"/>
          </a:p>
        </p:txBody>
      </p:sp>
      <p:sp>
        <p:nvSpPr>
          <p:cNvPr id="6" name="TextBox 5">
            <a:extLst>
              <a:ext uri="{FF2B5EF4-FFF2-40B4-BE49-F238E27FC236}">
                <a16:creationId xmlns:a16="http://schemas.microsoft.com/office/drawing/2014/main" id="{9C944972-FCEB-589F-F753-AD1A685B98CC}"/>
              </a:ext>
            </a:extLst>
          </p:cNvPr>
          <p:cNvSpPr txBox="1"/>
          <p:nvPr/>
        </p:nvSpPr>
        <p:spPr>
          <a:xfrm>
            <a:off x="550606" y="363934"/>
            <a:ext cx="3867587"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Avg Rating by Order Segment</a:t>
            </a:r>
          </a:p>
        </p:txBody>
      </p:sp>
      <p:pic>
        <p:nvPicPr>
          <p:cNvPr id="9" name="Picture 8">
            <a:extLst>
              <a:ext uri="{FF2B5EF4-FFF2-40B4-BE49-F238E27FC236}">
                <a16:creationId xmlns:a16="http://schemas.microsoft.com/office/drawing/2014/main" id="{BD7652A2-80D7-C495-AE5B-C822C4939FF2}"/>
              </a:ext>
            </a:extLst>
          </p:cNvPr>
          <p:cNvPicPr>
            <a:picLocks noChangeAspect="1"/>
          </p:cNvPicPr>
          <p:nvPr/>
        </p:nvPicPr>
        <p:blipFill>
          <a:blip r:embed="rId2"/>
          <a:stretch>
            <a:fillRect/>
          </a:stretch>
        </p:blipFill>
        <p:spPr>
          <a:xfrm>
            <a:off x="5447071" y="467360"/>
            <a:ext cx="6561361" cy="5760720"/>
          </a:xfrm>
          <a:prstGeom prst="rect">
            <a:avLst/>
          </a:prstGeom>
        </p:spPr>
      </p:pic>
      <p:cxnSp>
        <p:nvCxnSpPr>
          <p:cNvPr id="10" name="Straight Arrow Connector 9">
            <a:extLst>
              <a:ext uri="{FF2B5EF4-FFF2-40B4-BE49-F238E27FC236}">
                <a16:creationId xmlns:a16="http://schemas.microsoft.com/office/drawing/2014/main" id="{B1ACF07F-80BE-735C-D37D-4DB823C7079C}"/>
              </a:ext>
            </a:extLst>
          </p:cNvPr>
          <p:cNvCxnSpPr>
            <a:cxnSpLocks/>
          </p:cNvCxnSpPr>
          <p:nvPr/>
        </p:nvCxnSpPr>
        <p:spPr>
          <a:xfrm>
            <a:off x="5059680" y="1727200"/>
            <a:ext cx="1320800" cy="1838960"/>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20089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15AFC2-C14A-8501-3C56-82DC42CE48BC}"/>
              </a:ext>
            </a:extLst>
          </p:cNvPr>
          <p:cNvPicPr>
            <a:picLocks noChangeAspect="1"/>
          </p:cNvPicPr>
          <p:nvPr/>
        </p:nvPicPr>
        <p:blipFill>
          <a:blip r:embed="rId2"/>
          <a:stretch>
            <a:fillRect/>
          </a:stretch>
        </p:blipFill>
        <p:spPr>
          <a:xfrm>
            <a:off x="1080024" y="255638"/>
            <a:ext cx="10031951" cy="6381135"/>
          </a:xfrm>
          <a:prstGeom prst="rect">
            <a:avLst/>
          </a:prstGeom>
        </p:spPr>
      </p:pic>
    </p:spTree>
    <p:extLst>
      <p:ext uri="{BB962C8B-B14F-4D97-AF65-F5344CB8AC3E}">
        <p14:creationId xmlns:p14="http://schemas.microsoft.com/office/powerpoint/2010/main" val="148417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7102051-2980-D9EF-3D3B-79CFAC281B3A}"/>
              </a:ext>
            </a:extLst>
          </p:cNvPr>
          <p:cNvPicPr>
            <a:picLocks noChangeAspect="1"/>
          </p:cNvPicPr>
          <p:nvPr/>
        </p:nvPicPr>
        <p:blipFill>
          <a:blip r:embed="rId2"/>
          <a:stretch>
            <a:fillRect/>
          </a:stretch>
        </p:blipFill>
        <p:spPr>
          <a:xfrm>
            <a:off x="694383" y="228408"/>
            <a:ext cx="10319926" cy="5995686"/>
          </a:xfrm>
          <a:prstGeom prst="rect">
            <a:avLst/>
          </a:prstGeom>
        </p:spPr>
      </p:pic>
    </p:spTree>
    <p:extLst>
      <p:ext uri="{BB962C8B-B14F-4D97-AF65-F5344CB8AC3E}">
        <p14:creationId xmlns:p14="http://schemas.microsoft.com/office/powerpoint/2010/main" val="2323690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3EB9-3E03-67EF-9687-F4648C74E886}"/>
              </a:ext>
            </a:extLst>
          </p:cNvPr>
          <p:cNvSpPr>
            <a:spLocks noGrp="1"/>
          </p:cNvSpPr>
          <p:nvPr>
            <p:ph type="title"/>
          </p:nvPr>
        </p:nvSpPr>
        <p:spPr>
          <a:xfrm>
            <a:off x="838200" y="186812"/>
            <a:ext cx="10515600" cy="570272"/>
          </a:xfrm>
        </p:spPr>
        <p:txBody>
          <a:bodyPr>
            <a:noAutofit/>
          </a:bodyPr>
          <a:lstStyle/>
          <a:p>
            <a:r>
              <a:rPr lang="en-US" sz="4000" b="1" dirty="0"/>
              <a:t>10. Key Insights and Findings</a:t>
            </a:r>
          </a:p>
        </p:txBody>
      </p:sp>
      <p:sp>
        <p:nvSpPr>
          <p:cNvPr id="3" name="Content Placeholder 2">
            <a:extLst>
              <a:ext uri="{FF2B5EF4-FFF2-40B4-BE49-F238E27FC236}">
                <a16:creationId xmlns:a16="http://schemas.microsoft.com/office/drawing/2014/main" id="{0619E6DF-A12B-9339-41F1-F2663E3692A7}"/>
              </a:ext>
            </a:extLst>
          </p:cNvPr>
          <p:cNvSpPr>
            <a:spLocks noGrp="1"/>
          </p:cNvSpPr>
          <p:nvPr>
            <p:ph idx="1"/>
          </p:nvPr>
        </p:nvSpPr>
        <p:spPr>
          <a:xfrm>
            <a:off x="838200" y="875071"/>
            <a:ext cx="10515600" cy="5486400"/>
          </a:xfrm>
        </p:spPr>
        <p:txBody>
          <a:bodyPr>
            <a:normAutofit fontScale="25000" lnSpcReduction="20000"/>
          </a:bodyPr>
          <a:lstStyle/>
          <a:p>
            <a:r>
              <a:rPr lang="en-US" sz="7200" dirty="0">
                <a:solidFill>
                  <a:srgbClr val="C00000"/>
                </a:solidFill>
              </a:rPr>
              <a:t>1. Overall Customer Sentiment Is Critically Negative</a:t>
            </a:r>
          </a:p>
          <a:p>
            <a:pPr>
              <a:buFont typeface="Wingdings" panose="05000000000000000000" pitchFamily="2" charset="2"/>
              <a:buChar char="Ø"/>
            </a:pPr>
            <a:r>
              <a:rPr lang="en-US" sz="6400" b="1" dirty="0"/>
              <a:t>Insight:</a:t>
            </a:r>
            <a:r>
              <a:rPr lang="en-US" sz="6400" dirty="0"/>
              <a:t> Customer satisfaction is severely below acceptable levels.</a:t>
            </a:r>
          </a:p>
          <a:p>
            <a:pPr>
              <a:buFont typeface="Wingdings" panose="05000000000000000000" pitchFamily="2" charset="2"/>
              <a:buChar char="Ø"/>
            </a:pPr>
            <a:r>
              <a:rPr lang="en-US" sz="6400" b="1" dirty="0"/>
              <a:t>Supporting data</a:t>
            </a:r>
            <a:r>
              <a:rPr lang="en-US" sz="6400" b="1" dirty="0">
                <a:latin typeface="+mj-lt"/>
              </a:rPr>
              <a:t>:</a:t>
            </a:r>
            <a:r>
              <a:rPr lang="en-US" sz="6400" dirty="0">
                <a:latin typeface="+mj-lt"/>
              </a:rPr>
              <a:t> NPS = </a:t>
            </a:r>
            <a:r>
              <a:rPr lang="en-US" sz="6400" b="1" dirty="0">
                <a:latin typeface="+mj-lt"/>
              </a:rPr>
              <a:t>-45</a:t>
            </a:r>
            <a:r>
              <a:rPr lang="en-US" sz="6400" dirty="0">
                <a:latin typeface="+mj-lt"/>
              </a:rPr>
              <a:t>, with </a:t>
            </a:r>
            <a:r>
              <a:rPr lang="en-US" sz="6400" b="1" dirty="0">
                <a:latin typeface="+mj-lt"/>
              </a:rPr>
              <a:t>59% detractors</a:t>
            </a:r>
            <a:r>
              <a:rPr lang="en-US" sz="6400" dirty="0">
                <a:latin typeface="+mj-lt"/>
              </a:rPr>
              <a:t> and only </a:t>
            </a:r>
            <a:r>
              <a:rPr lang="en-US" sz="6400" b="1" dirty="0">
                <a:latin typeface="+mj-lt"/>
              </a:rPr>
              <a:t>14% promoters</a:t>
            </a:r>
            <a:r>
              <a:rPr lang="en-US" sz="6400" dirty="0">
                <a:latin typeface="+mj-lt"/>
              </a:rPr>
              <a:t> across </a:t>
            </a:r>
            <a:r>
              <a:rPr lang="en-US" sz="6400" b="1" dirty="0">
                <a:latin typeface="+mj-lt"/>
              </a:rPr>
              <a:t>1,938 orders</a:t>
            </a:r>
            <a:r>
              <a:rPr lang="en-US" sz="6400" dirty="0">
                <a:latin typeface="+mj-lt"/>
              </a:rPr>
              <a:t>.</a:t>
            </a:r>
          </a:p>
          <a:p>
            <a:pPr>
              <a:buFont typeface="Wingdings" panose="05000000000000000000" pitchFamily="2" charset="2"/>
              <a:buChar char="Ø"/>
            </a:pPr>
            <a:r>
              <a:rPr lang="en-US" sz="6400" b="1" dirty="0"/>
              <a:t>Business impact:</a:t>
            </a:r>
            <a:r>
              <a:rPr lang="en-US" sz="6400" dirty="0"/>
              <a:t> High risk of customer churn, reduced repeat purchases, and damage to brand reputation if corrective actions are not taken urgently.</a:t>
            </a:r>
            <a:br>
              <a:rPr lang="en-US" dirty="0"/>
            </a:br>
            <a:endParaRPr lang="en-US" dirty="0"/>
          </a:p>
          <a:p>
            <a:r>
              <a:rPr lang="en-US" sz="7200" dirty="0">
                <a:solidFill>
                  <a:srgbClr val="C00000"/>
                </a:solidFill>
              </a:rPr>
              <a:t>2. Delivery Failures and Cancellations Are the Primary Drivers of Dissatisfaction</a:t>
            </a:r>
          </a:p>
          <a:p>
            <a:pPr>
              <a:buFont typeface="Wingdings" panose="05000000000000000000" pitchFamily="2" charset="2"/>
              <a:buChar char="Ø"/>
            </a:pPr>
            <a:r>
              <a:rPr lang="en-US" sz="6400" b="1" dirty="0">
                <a:latin typeface="+mj-lt"/>
              </a:rPr>
              <a:t>Insight:</a:t>
            </a:r>
            <a:r>
              <a:rPr lang="en-US" sz="6400" dirty="0">
                <a:latin typeface="+mj-lt"/>
              </a:rPr>
              <a:t> Delivery performance is the strongest factor influencing customer ratings.</a:t>
            </a:r>
          </a:p>
          <a:p>
            <a:pPr>
              <a:buFont typeface="Wingdings" panose="05000000000000000000" pitchFamily="2" charset="2"/>
              <a:buChar char="Ø"/>
            </a:pPr>
            <a:r>
              <a:rPr lang="en-US" sz="6400" b="1" dirty="0">
                <a:latin typeface="+mj-lt"/>
              </a:rPr>
              <a:t>Supporting data</a:t>
            </a:r>
            <a:r>
              <a:rPr lang="en-US" sz="7200" b="1" dirty="0">
                <a:latin typeface="+mj-lt"/>
              </a:rPr>
              <a:t>:</a:t>
            </a:r>
            <a:r>
              <a:rPr lang="en-US" sz="7200" dirty="0">
                <a:latin typeface="+mj-lt"/>
              </a:rPr>
              <a:t> </a:t>
            </a:r>
            <a:r>
              <a:rPr lang="en-US" sz="6400" dirty="0">
                <a:latin typeface="+mj-lt"/>
              </a:rPr>
              <a:t>Delivered orders show the highest rating (</a:t>
            </a:r>
            <a:r>
              <a:rPr lang="en-US" sz="6400" b="1" dirty="0">
                <a:latin typeface="+mj-lt"/>
              </a:rPr>
              <a:t>3.14</a:t>
            </a:r>
            <a:r>
              <a:rPr lang="en-US" sz="6400" dirty="0">
                <a:latin typeface="+mj-lt"/>
              </a:rPr>
              <a:t>), while </a:t>
            </a:r>
            <a:r>
              <a:rPr lang="en-US" sz="6400" b="1" dirty="0">
                <a:latin typeface="+mj-lt"/>
              </a:rPr>
              <a:t>Failed Delivery (2.99)</a:t>
            </a:r>
            <a:r>
              <a:rPr lang="en-US" sz="6400" dirty="0">
                <a:latin typeface="+mj-lt"/>
              </a:rPr>
              <a:t> and </a:t>
            </a:r>
            <a:r>
              <a:rPr lang="en-US" sz="6400" b="1" dirty="0">
                <a:latin typeface="+mj-lt"/>
              </a:rPr>
              <a:t>Cancelled (3.08)</a:t>
            </a:r>
            <a:r>
              <a:rPr lang="en-US" sz="6400" dirty="0">
                <a:latin typeface="+mj-lt"/>
              </a:rPr>
              <a:t> orders generate significantly lower satisfaction and more detractors.</a:t>
            </a:r>
          </a:p>
          <a:p>
            <a:pPr>
              <a:buFont typeface="Wingdings" panose="05000000000000000000" pitchFamily="2" charset="2"/>
              <a:buChar char="Ø"/>
            </a:pPr>
            <a:r>
              <a:rPr lang="en-US" sz="6400" b="1" dirty="0">
                <a:latin typeface="+mj-lt"/>
              </a:rPr>
              <a:t>Business impact:</a:t>
            </a:r>
            <a:r>
              <a:rPr lang="en-US" sz="6400" dirty="0">
                <a:latin typeface="+mj-lt"/>
              </a:rPr>
              <a:t> Improving delivery reliability will directly increase NPS, reduce complaints, and strengthen customer retention.</a:t>
            </a:r>
          </a:p>
          <a:p>
            <a:pPr>
              <a:buFont typeface="Wingdings" panose="05000000000000000000" pitchFamily="2" charset="2"/>
              <a:buChar char="Ø"/>
            </a:pPr>
            <a:endParaRPr lang="en-US" dirty="0">
              <a:solidFill>
                <a:srgbClr val="C00000"/>
              </a:solidFill>
            </a:endParaRPr>
          </a:p>
          <a:p>
            <a:r>
              <a:rPr lang="en-US" sz="7200" dirty="0">
                <a:solidFill>
                  <a:srgbClr val="C00000"/>
                </a:solidFill>
              </a:rPr>
              <a:t>3. Extended Delivery Windows Negatively Affect Customer Satisfaction</a:t>
            </a:r>
          </a:p>
          <a:p>
            <a:pPr>
              <a:buFont typeface="Wingdings" panose="05000000000000000000" pitchFamily="2" charset="2"/>
              <a:buChar char="Ø"/>
            </a:pPr>
            <a:r>
              <a:rPr lang="en-US" sz="6400" b="1" dirty="0">
                <a:latin typeface="+mj-lt"/>
              </a:rPr>
              <a:t>Insight:</a:t>
            </a:r>
            <a:r>
              <a:rPr lang="en-US" sz="6400" dirty="0">
                <a:latin typeface="+mj-lt"/>
              </a:rPr>
              <a:t> </a:t>
            </a:r>
            <a:r>
              <a:rPr lang="en-US" sz="7200" dirty="0">
                <a:latin typeface="+mj-lt"/>
              </a:rPr>
              <a:t>Longer delivery time windows reduce customer satisfaction.</a:t>
            </a:r>
          </a:p>
          <a:p>
            <a:pPr>
              <a:buFont typeface="Wingdings" panose="05000000000000000000" pitchFamily="2" charset="2"/>
              <a:buChar char="Ø"/>
            </a:pPr>
            <a:r>
              <a:rPr lang="en-US" sz="6400" b="1" dirty="0">
                <a:latin typeface="+mj-lt"/>
              </a:rPr>
              <a:t>Supporting data:</a:t>
            </a:r>
            <a:r>
              <a:rPr lang="en-US" sz="6400" dirty="0">
                <a:latin typeface="+mj-lt"/>
              </a:rPr>
              <a:t> </a:t>
            </a:r>
            <a:r>
              <a:rPr lang="en-US" sz="7200" dirty="0">
                <a:latin typeface="+mj-lt"/>
              </a:rPr>
              <a:t>Ratings decline as delivery windows extend beyond 1–2 days, with lower scores observed for longer delivery periods.</a:t>
            </a:r>
          </a:p>
          <a:p>
            <a:pPr>
              <a:buFont typeface="Wingdings" panose="05000000000000000000" pitchFamily="2" charset="2"/>
              <a:buChar char="Ø"/>
            </a:pPr>
            <a:r>
              <a:rPr lang="en-US" sz="6400" b="1" dirty="0">
                <a:latin typeface="+mj-lt"/>
              </a:rPr>
              <a:t>Business impact:</a:t>
            </a:r>
            <a:r>
              <a:rPr lang="en-US" sz="6400" dirty="0">
                <a:latin typeface="+mj-lt"/>
              </a:rPr>
              <a:t> </a:t>
            </a:r>
            <a:r>
              <a:rPr lang="en-US" sz="7200" dirty="0">
                <a:latin typeface="+mj-lt"/>
              </a:rPr>
              <a:t>Shortening delivery timelines and setting realistic expectations can improve satisfaction without major cost increases.</a:t>
            </a:r>
          </a:p>
          <a:p>
            <a:pPr marL="0" indent="0">
              <a:buNone/>
            </a:pPr>
            <a:endParaRPr lang="en-US" dirty="0"/>
          </a:p>
        </p:txBody>
      </p:sp>
    </p:spTree>
    <p:extLst>
      <p:ext uri="{BB962C8B-B14F-4D97-AF65-F5344CB8AC3E}">
        <p14:creationId xmlns:p14="http://schemas.microsoft.com/office/powerpoint/2010/main" val="3586793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BE845-AF2F-50E7-8B98-73C7EAA6F5C3}"/>
              </a:ext>
            </a:extLst>
          </p:cNvPr>
          <p:cNvSpPr>
            <a:spLocks noGrp="1"/>
          </p:cNvSpPr>
          <p:nvPr>
            <p:ph idx="1"/>
          </p:nvPr>
        </p:nvSpPr>
        <p:spPr>
          <a:xfrm>
            <a:off x="838200" y="314632"/>
            <a:ext cx="10515600" cy="5862331"/>
          </a:xfrm>
        </p:spPr>
        <p:txBody>
          <a:bodyPr>
            <a:noAutofit/>
          </a:bodyPr>
          <a:lstStyle/>
          <a:p>
            <a:pPr marL="0" indent="0">
              <a:buNone/>
            </a:pPr>
            <a:r>
              <a:rPr lang="en-US" sz="1800" dirty="0">
                <a:solidFill>
                  <a:srgbClr val="C00000"/>
                </a:solidFill>
              </a:rPr>
              <a:t>4. </a:t>
            </a:r>
            <a:r>
              <a:rPr lang="en-US" sz="1900" dirty="0">
                <a:solidFill>
                  <a:srgbClr val="C00000"/>
                </a:solidFill>
              </a:rPr>
              <a:t>Assembly Service Increases the Likelihood of Promoters</a:t>
            </a:r>
          </a:p>
          <a:p>
            <a:pPr>
              <a:buFont typeface="Wingdings" panose="05000000000000000000" pitchFamily="2" charset="2"/>
              <a:buChar char="Ø"/>
            </a:pPr>
            <a:r>
              <a:rPr lang="en-US" sz="1600" b="1" dirty="0"/>
              <a:t>Insight</a:t>
            </a:r>
            <a:r>
              <a:rPr lang="en-US" sz="1600" b="1" dirty="0">
                <a:latin typeface="+mj-lt"/>
              </a:rPr>
              <a:t>:</a:t>
            </a:r>
            <a:r>
              <a:rPr lang="en-US" sz="1600" dirty="0">
                <a:latin typeface="+mj-lt"/>
              </a:rPr>
              <a:t> Offering assembly services improves the customer experience.</a:t>
            </a:r>
          </a:p>
          <a:p>
            <a:pPr>
              <a:buFont typeface="Wingdings" panose="05000000000000000000" pitchFamily="2" charset="2"/>
              <a:buChar char="Ø"/>
            </a:pPr>
            <a:r>
              <a:rPr lang="en-US" sz="1600" b="1" dirty="0"/>
              <a:t>Supporting data:</a:t>
            </a:r>
            <a:r>
              <a:rPr lang="en-US" sz="1600" dirty="0"/>
              <a:t> Orders with assembly service show more promoters (</a:t>
            </a:r>
            <a:r>
              <a:rPr lang="en-US" sz="1600" b="1" dirty="0"/>
              <a:t>135</a:t>
            </a:r>
            <a:r>
              <a:rPr lang="en-US" sz="1600" dirty="0"/>
              <a:t>) and fewer detractors compared to orders without assembly.</a:t>
            </a:r>
          </a:p>
          <a:p>
            <a:pPr>
              <a:buFont typeface="Wingdings" panose="05000000000000000000" pitchFamily="2" charset="2"/>
              <a:buChar char="Ø"/>
            </a:pPr>
            <a:r>
              <a:rPr lang="en-US" sz="1600" b="1" dirty="0"/>
              <a:t>Business impact:</a:t>
            </a:r>
            <a:r>
              <a:rPr lang="en-US" sz="1600" dirty="0"/>
              <a:t> Promoting assembly services can convert passive customers into promoters and reduce post-delivery dissatisfaction.</a:t>
            </a:r>
            <a:endParaRPr lang="en-US" sz="1900" dirty="0"/>
          </a:p>
          <a:p>
            <a:pPr marL="0" indent="0">
              <a:buNone/>
            </a:pPr>
            <a:r>
              <a:rPr lang="en-US" sz="1900" dirty="0">
                <a:solidFill>
                  <a:srgbClr val="C00000"/>
                </a:solidFill>
              </a:rPr>
              <a:t>5. Payment Method Influences Perceived Customer Experience</a:t>
            </a:r>
          </a:p>
          <a:p>
            <a:pPr>
              <a:buFont typeface="Wingdings" panose="05000000000000000000" pitchFamily="2" charset="2"/>
              <a:buChar char="Ø"/>
            </a:pPr>
            <a:r>
              <a:rPr lang="en-US" sz="1600" b="1" dirty="0"/>
              <a:t>Insight</a:t>
            </a:r>
            <a:r>
              <a:rPr lang="en-US" sz="1600" b="1" dirty="0">
                <a:latin typeface="+mj-lt"/>
              </a:rPr>
              <a:t>:</a:t>
            </a:r>
            <a:r>
              <a:rPr lang="en-US" sz="1600" dirty="0">
                <a:latin typeface="+mj-lt"/>
              </a:rPr>
              <a:t> Payment channel choice affects satisfaction levels.</a:t>
            </a:r>
          </a:p>
          <a:p>
            <a:pPr>
              <a:buFont typeface="Wingdings" panose="05000000000000000000" pitchFamily="2" charset="2"/>
              <a:buChar char="Ø"/>
            </a:pPr>
            <a:r>
              <a:rPr lang="en-US" sz="1600" b="1" dirty="0"/>
              <a:t>Supporting data:</a:t>
            </a:r>
            <a:r>
              <a:rPr lang="en-US" sz="1600" dirty="0"/>
              <a:t> </a:t>
            </a:r>
            <a:r>
              <a:rPr lang="en-US" sz="1600" b="1" dirty="0">
                <a:latin typeface="+mj-lt"/>
              </a:rPr>
              <a:t>Bank Transfer</a:t>
            </a:r>
            <a:r>
              <a:rPr lang="en-US" sz="1600" dirty="0">
                <a:latin typeface="+mj-lt"/>
              </a:rPr>
              <a:t> and </a:t>
            </a:r>
            <a:r>
              <a:rPr lang="en-US" sz="1600" b="1" dirty="0">
                <a:latin typeface="+mj-lt"/>
              </a:rPr>
              <a:t>PayPal</a:t>
            </a:r>
            <a:r>
              <a:rPr lang="en-US" sz="1600" dirty="0">
                <a:latin typeface="+mj-lt"/>
              </a:rPr>
              <a:t> achieve the highest ratings (~</a:t>
            </a:r>
            <a:r>
              <a:rPr lang="en-US" sz="1600" b="1" dirty="0">
                <a:latin typeface="+mj-lt"/>
              </a:rPr>
              <a:t>3.2</a:t>
            </a:r>
            <a:r>
              <a:rPr lang="en-US" sz="1600" dirty="0">
                <a:latin typeface="+mj-lt"/>
              </a:rPr>
              <a:t>), while </a:t>
            </a:r>
            <a:r>
              <a:rPr lang="en-US" sz="1600" b="1" dirty="0">
                <a:latin typeface="+mj-lt"/>
              </a:rPr>
              <a:t>Google Pay</a:t>
            </a:r>
            <a:r>
              <a:rPr lang="en-US" sz="1600" dirty="0">
                <a:latin typeface="+mj-lt"/>
              </a:rPr>
              <a:t> and other digital wallets perform lower (~</a:t>
            </a:r>
            <a:r>
              <a:rPr lang="en-US" sz="1600" b="1" dirty="0">
                <a:latin typeface="+mj-lt"/>
              </a:rPr>
              <a:t>3.0</a:t>
            </a:r>
            <a:r>
              <a:rPr lang="en-US" sz="1600" dirty="0">
                <a:latin typeface="+mj-lt"/>
              </a:rPr>
              <a:t>).</a:t>
            </a:r>
          </a:p>
          <a:p>
            <a:pPr>
              <a:buFont typeface="Wingdings" panose="05000000000000000000" pitchFamily="2" charset="2"/>
              <a:buChar char="Ø"/>
            </a:pPr>
            <a:r>
              <a:rPr lang="en-US" sz="1600" b="1" dirty="0"/>
              <a:t>Business impact</a:t>
            </a:r>
            <a:r>
              <a:rPr lang="en-US" sz="1600" b="1" dirty="0">
                <a:latin typeface="+mj-lt"/>
              </a:rPr>
              <a:t>:</a:t>
            </a:r>
            <a:r>
              <a:rPr lang="en-US" sz="1600" dirty="0">
                <a:latin typeface="+mj-lt"/>
              </a:rPr>
              <a:t> Improving digital wallet performance and payment experience can reduce friction and enhance overall satisfaction.</a:t>
            </a:r>
            <a:endParaRPr lang="en-US" sz="1600" dirty="0"/>
          </a:p>
          <a:p>
            <a:pPr marL="0" indent="0">
              <a:buNone/>
            </a:pPr>
            <a:r>
              <a:rPr lang="en-US" sz="1900" dirty="0">
                <a:solidFill>
                  <a:srgbClr val="C00000"/>
                </a:solidFill>
              </a:rPr>
              <a:t>6. Customer Satisfaction Varies Significantly Across Product Categories</a:t>
            </a:r>
          </a:p>
          <a:p>
            <a:pPr>
              <a:buFont typeface="Wingdings" panose="05000000000000000000" pitchFamily="2" charset="2"/>
              <a:buChar char="Ø"/>
            </a:pPr>
            <a:r>
              <a:rPr lang="en-US" sz="1800" b="1" dirty="0"/>
              <a:t>Insight</a:t>
            </a:r>
            <a:r>
              <a:rPr lang="en-US" sz="1800" b="1" dirty="0">
                <a:latin typeface="+mj-lt"/>
              </a:rPr>
              <a:t>:</a:t>
            </a:r>
            <a:r>
              <a:rPr lang="en-US" sz="1800" dirty="0">
                <a:latin typeface="+mj-lt"/>
              </a:rPr>
              <a:t> Certain product categories underperform in customer satisfaction.</a:t>
            </a:r>
          </a:p>
          <a:p>
            <a:pPr>
              <a:buFont typeface="Wingdings" panose="05000000000000000000" pitchFamily="2" charset="2"/>
              <a:buChar char="Ø"/>
            </a:pPr>
            <a:r>
              <a:rPr lang="en-US" sz="1800" b="1" dirty="0">
                <a:latin typeface="+mj-lt"/>
              </a:rPr>
              <a:t>Supporting data:</a:t>
            </a:r>
            <a:r>
              <a:rPr lang="en-US" sz="1800" dirty="0">
                <a:latin typeface="+mj-lt"/>
              </a:rPr>
              <a:t> Ratings decline from </a:t>
            </a:r>
            <a:r>
              <a:rPr lang="en-US" sz="1800" b="1" dirty="0">
                <a:latin typeface="+mj-lt"/>
              </a:rPr>
              <a:t>Outdoor (338)</a:t>
            </a:r>
            <a:r>
              <a:rPr lang="en-US" sz="1800" dirty="0">
                <a:latin typeface="+mj-lt"/>
              </a:rPr>
              <a:t> and </a:t>
            </a:r>
            <a:r>
              <a:rPr lang="en-US" sz="1800" b="1" dirty="0">
                <a:latin typeface="+mj-lt"/>
              </a:rPr>
              <a:t>Living Room (332)</a:t>
            </a:r>
            <a:r>
              <a:rPr lang="en-US" sz="1800" dirty="0">
                <a:latin typeface="+mj-lt"/>
              </a:rPr>
              <a:t> to </a:t>
            </a:r>
            <a:r>
              <a:rPr lang="en-US" sz="1800" b="1" dirty="0">
                <a:latin typeface="+mj-lt"/>
              </a:rPr>
              <a:t>Dining Room (303)</a:t>
            </a:r>
            <a:r>
              <a:rPr lang="en-US" sz="1800" dirty="0">
                <a:latin typeface="+mj-lt"/>
              </a:rPr>
              <a:t> and </a:t>
            </a:r>
            <a:r>
              <a:rPr lang="en-US" sz="1800" b="1" dirty="0">
                <a:latin typeface="+mj-lt"/>
              </a:rPr>
              <a:t>Bedroom</a:t>
            </a:r>
            <a:r>
              <a:rPr lang="en-US" sz="1800" dirty="0">
                <a:latin typeface="+mj-lt"/>
              </a:rPr>
              <a:t> categories</a:t>
            </a:r>
            <a:r>
              <a:rPr lang="en-US" sz="1800" dirty="0"/>
              <a:t>.</a:t>
            </a:r>
          </a:p>
          <a:p>
            <a:pPr>
              <a:buFont typeface="Wingdings" panose="05000000000000000000" pitchFamily="2" charset="2"/>
              <a:buChar char="Ø"/>
            </a:pPr>
            <a:r>
              <a:rPr lang="en-US" sz="1800" b="1" dirty="0"/>
              <a:t>Business impact:</a:t>
            </a:r>
            <a:r>
              <a:rPr lang="en-US" sz="1800" dirty="0"/>
              <a:t> </a:t>
            </a:r>
            <a:r>
              <a:rPr lang="en-US" sz="1800" dirty="0">
                <a:latin typeface="+mj-lt"/>
              </a:rPr>
              <a:t>Targeted quality and logistics improvements in low-performing categories can generate focused NPS improvements.</a:t>
            </a:r>
          </a:p>
          <a:p>
            <a:pPr marL="0" indent="0">
              <a:buNone/>
            </a:pPr>
            <a:br>
              <a:rPr lang="en-US" sz="2600" dirty="0"/>
            </a:br>
            <a:endParaRPr lang="en-US" sz="2600" dirty="0"/>
          </a:p>
          <a:p>
            <a:pPr marL="0" indent="0">
              <a:buNone/>
            </a:pPr>
            <a:br>
              <a:rPr lang="en-US" sz="1600" dirty="0"/>
            </a:br>
            <a:endParaRPr lang="en-US" sz="1600" dirty="0"/>
          </a:p>
          <a:p>
            <a:endParaRPr lang="en-US" dirty="0"/>
          </a:p>
        </p:txBody>
      </p:sp>
    </p:spTree>
    <p:extLst>
      <p:ext uri="{BB962C8B-B14F-4D97-AF65-F5344CB8AC3E}">
        <p14:creationId xmlns:p14="http://schemas.microsoft.com/office/powerpoint/2010/main" val="4046237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CEC24-CC28-62E8-363E-F3CAF71550B3}"/>
              </a:ext>
            </a:extLst>
          </p:cNvPr>
          <p:cNvSpPr>
            <a:spLocks noGrp="1"/>
          </p:cNvSpPr>
          <p:nvPr>
            <p:ph idx="1"/>
          </p:nvPr>
        </p:nvSpPr>
        <p:spPr>
          <a:xfrm>
            <a:off x="789039" y="572729"/>
            <a:ext cx="10613923" cy="5712542"/>
          </a:xfrm>
        </p:spPr>
        <p:txBody>
          <a:bodyPr>
            <a:normAutofit/>
          </a:bodyPr>
          <a:lstStyle/>
          <a:p>
            <a:pPr marL="0" indent="0">
              <a:buNone/>
            </a:pPr>
            <a:r>
              <a:rPr lang="en-US" sz="1800" dirty="0">
                <a:solidFill>
                  <a:srgbClr val="C00000"/>
                </a:solidFill>
              </a:rPr>
              <a:t>7. High-Value Orders Generate Higher Customer Satisfaction</a:t>
            </a:r>
          </a:p>
          <a:p>
            <a:pPr>
              <a:buFont typeface="Wingdings" panose="05000000000000000000" pitchFamily="2" charset="2"/>
              <a:buChar char="Ø"/>
            </a:pPr>
            <a:r>
              <a:rPr lang="en-US" sz="1600" b="1" dirty="0">
                <a:latin typeface="+mj-lt"/>
              </a:rPr>
              <a:t>Insight:</a:t>
            </a:r>
            <a:r>
              <a:rPr lang="en-US" sz="1600" dirty="0">
                <a:latin typeface="+mj-lt"/>
              </a:rPr>
              <a:t> Premium customers report better experiences than standard customers.</a:t>
            </a:r>
          </a:p>
          <a:p>
            <a:pPr>
              <a:buFont typeface="Wingdings" panose="05000000000000000000" pitchFamily="2" charset="2"/>
              <a:buChar char="Ø"/>
            </a:pPr>
            <a:r>
              <a:rPr lang="en-US" sz="1600" b="1" dirty="0">
                <a:latin typeface="+mj-lt"/>
              </a:rPr>
              <a:t>Supporting data:</a:t>
            </a:r>
            <a:r>
              <a:rPr lang="en-US" sz="1600" dirty="0">
                <a:latin typeface="+mj-lt"/>
              </a:rPr>
              <a:t> High-value orders average near </a:t>
            </a:r>
            <a:r>
              <a:rPr lang="en-US" sz="1600" b="1" dirty="0">
                <a:latin typeface="+mj-lt"/>
              </a:rPr>
              <a:t>6</a:t>
            </a:r>
            <a:r>
              <a:rPr lang="en-US" sz="1600" dirty="0">
                <a:latin typeface="+mj-lt"/>
              </a:rPr>
              <a:t>, compared with approximately </a:t>
            </a:r>
            <a:r>
              <a:rPr lang="en-US" sz="1600" b="1" dirty="0">
                <a:latin typeface="+mj-lt"/>
              </a:rPr>
              <a:t>3</a:t>
            </a:r>
            <a:r>
              <a:rPr lang="en-US" sz="1600" dirty="0">
                <a:latin typeface="+mj-lt"/>
              </a:rPr>
              <a:t> for standard orders.</a:t>
            </a:r>
          </a:p>
          <a:p>
            <a:pPr>
              <a:buFont typeface="Wingdings" panose="05000000000000000000" pitchFamily="2" charset="2"/>
              <a:buChar char="Ø"/>
            </a:pPr>
            <a:r>
              <a:rPr lang="en-US" sz="1600" b="1" dirty="0">
                <a:latin typeface="+mj-lt"/>
              </a:rPr>
              <a:t>Business impact:</a:t>
            </a:r>
            <a:r>
              <a:rPr lang="en-US" sz="1600" dirty="0">
                <a:latin typeface="+mj-lt"/>
              </a:rPr>
              <a:t> Expanding premium service features to mid-tier customers can increase satisfaction, loyalty, and lifetime customer value</a:t>
            </a:r>
            <a:r>
              <a:rPr lang="en-US" dirty="0"/>
              <a:t>.</a:t>
            </a:r>
          </a:p>
          <a:p>
            <a:pPr marL="0" indent="0">
              <a:buNone/>
            </a:pPr>
            <a:r>
              <a:rPr lang="en-US" sz="1800" dirty="0">
                <a:solidFill>
                  <a:srgbClr val="C00000"/>
                </a:solidFill>
              </a:rPr>
              <a:t>8. Brand Performance by Product Category</a:t>
            </a:r>
          </a:p>
          <a:p>
            <a:pPr marL="0" indent="0">
              <a:buNone/>
            </a:pPr>
            <a:endParaRPr lang="en-US" dirty="0"/>
          </a:p>
        </p:txBody>
      </p:sp>
      <p:sp>
        <p:nvSpPr>
          <p:cNvPr id="6" name="Rectangle 3">
            <a:extLst>
              <a:ext uri="{FF2B5EF4-FFF2-40B4-BE49-F238E27FC236}">
                <a16:creationId xmlns:a16="http://schemas.microsoft.com/office/drawing/2014/main" id="{CA9A5BBC-A26D-76E1-A929-94BC3A5D40E9}"/>
              </a:ext>
            </a:extLst>
          </p:cNvPr>
          <p:cNvSpPr>
            <a:spLocks noChangeArrowheads="1"/>
          </p:cNvSpPr>
          <p:nvPr/>
        </p:nvSpPr>
        <p:spPr bwMode="auto">
          <a:xfrm>
            <a:off x="789038" y="2859185"/>
            <a:ext cx="1036074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sz="1600" b="1" dirty="0">
                <a:latin typeface="+mj-lt"/>
              </a:rPr>
              <a:t>Insight</a:t>
            </a:r>
            <a:r>
              <a:rPr lang="en-US" sz="1600" dirty="0">
                <a:latin typeface="+mj-lt"/>
              </a:rPr>
              <a:t>: Sales are concentrated in key living spaces, with Bedroom and Living Room leading, while the Office category shows consistently weak performance across brands. Top brands like Overstock dominate, whereas smaller or Unknown brands lack consistency</a:t>
            </a:r>
          </a:p>
          <a:p>
            <a:pPr marL="285750" indent="-285750">
              <a:buFont typeface="Wingdings" panose="05000000000000000000" pitchFamily="2" charset="2"/>
              <a:buChar char="Ø"/>
            </a:pPr>
            <a:endParaRPr lang="en-US" sz="1600" dirty="0">
              <a:latin typeface="+mj-lt"/>
            </a:endParaRPr>
          </a:p>
          <a:p>
            <a:pPr marL="285750" indent="-285750">
              <a:buFont typeface="Wingdings" panose="05000000000000000000" pitchFamily="2" charset="2"/>
              <a:buChar char="Ø"/>
            </a:pPr>
            <a:r>
              <a:rPr lang="en-US" sz="1600" b="1" dirty="0">
                <a:latin typeface="+mj-lt"/>
              </a:rPr>
              <a:t>Supporting Data</a:t>
            </a:r>
            <a:r>
              <a:rPr lang="en-US" sz="1600" dirty="0">
                <a:latin typeface="+mj-lt"/>
              </a:rPr>
              <a:t>: Bedroom generates the highest revenue (~$516K), followed by Living Room (~$483K), while Office is the lowest (~$295K). Overstock leads overall sales, whereas the Unknown brand records the lowest performance</a:t>
            </a:r>
            <a:r>
              <a:rPr lang="en-US" sz="1600" dirty="0"/>
              <a:t>.</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latin typeface="+mj-lt"/>
              </a:rPr>
              <a:t>Business Impact</a:t>
            </a:r>
            <a:r>
              <a:rPr lang="en-US" sz="1600" dirty="0">
                <a:latin typeface="+mj-lt"/>
              </a:rPr>
              <a:t>: Focus on expanding Bedroom and Living Room categories to maximize revenue, while improving Office offerings presents a strong opportunity for significant growth.</a:t>
            </a:r>
          </a:p>
        </p:txBody>
      </p:sp>
    </p:spTree>
    <p:extLst>
      <p:ext uri="{BB962C8B-B14F-4D97-AF65-F5344CB8AC3E}">
        <p14:creationId xmlns:p14="http://schemas.microsoft.com/office/powerpoint/2010/main" val="1578642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6D73-3D55-1006-CDC2-3BCBA023DC1F}"/>
              </a:ext>
            </a:extLst>
          </p:cNvPr>
          <p:cNvSpPr>
            <a:spLocks noGrp="1"/>
          </p:cNvSpPr>
          <p:nvPr>
            <p:ph type="title"/>
          </p:nvPr>
        </p:nvSpPr>
        <p:spPr>
          <a:xfrm>
            <a:off x="838200" y="306132"/>
            <a:ext cx="10515600" cy="519778"/>
          </a:xfrm>
        </p:spPr>
        <p:txBody>
          <a:bodyPr>
            <a:noAutofit/>
          </a:bodyPr>
          <a:lstStyle/>
          <a:p>
            <a:r>
              <a:rPr lang="en-US" sz="4000" b="1" dirty="0"/>
              <a:t>11.Recommendations </a:t>
            </a:r>
          </a:p>
        </p:txBody>
      </p:sp>
      <p:sp>
        <p:nvSpPr>
          <p:cNvPr id="3" name="Content Placeholder 2">
            <a:extLst>
              <a:ext uri="{FF2B5EF4-FFF2-40B4-BE49-F238E27FC236}">
                <a16:creationId xmlns:a16="http://schemas.microsoft.com/office/drawing/2014/main" id="{72A452EA-2F82-6EF0-EDBE-E8DBBEE55735}"/>
              </a:ext>
            </a:extLst>
          </p:cNvPr>
          <p:cNvSpPr>
            <a:spLocks noGrp="1"/>
          </p:cNvSpPr>
          <p:nvPr>
            <p:ph idx="1"/>
          </p:nvPr>
        </p:nvSpPr>
        <p:spPr>
          <a:xfrm>
            <a:off x="838200" y="1012721"/>
            <a:ext cx="10515600" cy="5016757"/>
          </a:xfrm>
        </p:spPr>
        <p:txBody>
          <a:bodyPr>
            <a:normAutofit/>
          </a:bodyPr>
          <a:lstStyle/>
          <a:p>
            <a:pPr marL="0" indent="0">
              <a:buNone/>
            </a:pPr>
            <a:r>
              <a:rPr lang="en-US" sz="1900" dirty="0"/>
              <a:t>1. Improve Delivery Timelines to Increase Customer Satisfaction</a:t>
            </a:r>
          </a:p>
          <a:p>
            <a:pPr>
              <a:buFont typeface="Wingdings" panose="05000000000000000000" pitchFamily="2" charset="2"/>
              <a:buChar char="v"/>
            </a:pPr>
            <a:r>
              <a:rPr lang="en-US" sz="1600" dirty="0">
                <a:latin typeface="+mj-lt"/>
              </a:rPr>
              <a:t>The analysis indicates a negative relationship between delivery window days and customer ratings, suggesting that longer delivery times reduce customer satisfaction.</a:t>
            </a:r>
          </a:p>
          <a:p>
            <a:pPr>
              <a:buFont typeface="Wingdings" panose="05000000000000000000" pitchFamily="2" charset="2"/>
              <a:buChar char="ü"/>
            </a:pPr>
            <a:r>
              <a:rPr lang="en-US" sz="1600" b="1" dirty="0">
                <a:solidFill>
                  <a:srgbClr val="00B050"/>
                </a:solidFill>
                <a:latin typeface="+mj-lt"/>
              </a:rPr>
              <a:t>Action:</a:t>
            </a:r>
            <a:br>
              <a:rPr lang="en-US" sz="1600" dirty="0">
                <a:latin typeface="+mj-lt"/>
              </a:rPr>
            </a:br>
            <a:r>
              <a:rPr lang="en-US" sz="1600" dirty="0">
                <a:latin typeface="+mj-lt"/>
              </a:rPr>
              <a:t>• Optimize logistics operations and partner with faster delivery service providers</a:t>
            </a:r>
            <a:br>
              <a:rPr lang="en-US" sz="1600" dirty="0">
                <a:latin typeface="+mj-lt"/>
              </a:rPr>
            </a:br>
            <a:r>
              <a:rPr lang="en-US" sz="1600" dirty="0">
                <a:latin typeface="+mj-lt"/>
              </a:rPr>
              <a:t>• Introduce express or priority delivery options for high-value orders</a:t>
            </a:r>
          </a:p>
          <a:p>
            <a:pPr>
              <a:buFont typeface="Wingdings" panose="05000000000000000000" pitchFamily="2" charset="2"/>
              <a:buChar char="ü"/>
            </a:pPr>
            <a:r>
              <a:rPr lang="en-US" sz="1600" b="1" dirty="0">
                <a:solidFill>
                  <a:srgbClr val="00B050"/>
                </a:solidFill>
                <a:latin typeface="+mj-lt"/>
              </a:rPr>
              <a:t>Expected Benefit:</a:t>
            </a:r>
            <a:br>
              <a:rPr lang="en-US" sz="1600" dirty="0">
                <a:latin typeface="+mj-lt"/>
              </a:rPr>
            </a:br>
            <a:r>
              <a:rPr lang="en-US" sz="1600" dirty="0">
                <a:latin typeface="+mj-lt"/>
              </a:rPr>
              <a:t>Reduced delivery times can improve customer ratings, enhance customer experience, and increase repeat purchases.</a:t>
            </a:r>
            <a:br>
              <a:rPr lang="en-US" sz="1700" dirty="0">
                <a:latin typeface="+mj-lt"/>
              </a:rPr>
            </a:br>
            <a:endParaRPr lang="en-US" sz="1700" dirty="0">
              <a:latin typeface="+mj-lt"/>
            </a:endParaRPr>
          </a:p>
          <a:p>
            <a:pPr marL="0" indent="0">
              <a:buNone/>
            </a:pPr>
            <a:r>
              <a:rPr lang="en-US" sz="1900" dirty="0"/>
              <a:t>2. Promote Assembly Services to Increase Revenue</a:t>
            </a:r>
          </a:p>
          <a:p>
            <a:pPr>
              <a:buFont typeface="Wingdings" panose="05000000000000000000" pitchFamily="2" charset="2"/>
              <a:buChar char="v"/>
            </a:pPr>
            <a:r>
              <a:rPr lang="en-US" sz="1600" dirty="0">
                <a:latin typeface="+mj-lt"/>
              </a:rPr>
              <a:t>Orders that included assembly services showed higher average total order values.</a:t>
            </a:r>
          </a:p>
          <a:p>
            <a:pPr>
              <a:buFont typeface="Wingdings" panose="05000000000000000000" pitchFamily="2" charset="2"/>
              <a:buChar char="ü"/>
            </a:pPr>
            <a:r>
              <a:rPr lang="en-US" sz="1600" b="1" dirty="0">
                <a:solidFill>
                  <a:srgbClr val="00B050"/>
                </a:solidFill>
                <a:latin typeface="+mj-lt"/>
              </a:rPr>
              <a:t>Action:</a:t>
            </a:r>
            <a:br>
              <a:rPr lang="en-US" sz="1600" dirty="0">
                <a:latin typeface="+mj-lt"/>
              </a:rPr>
            </a:br>
            <a:r>
              <a:rPr lang="en-US" sz="1600" dirty="0">
                <a:latin typeface="+mj-lt"/>
              </a:rPr>
              <a:t>• Highlight assembly services during the checkout process</a:t>
            </a:r>
            <a:br>
              <a:rPr lang="en-US" sz="1600" dirty="0">
                <a:latin typeface="+mj-lt"/>
              </a:rPr>
            </a:br>
            <a:r>
              <a:rPr lang="en-US" sz="1600" dirty="0">
                <a:latin typeface="+mj-lt"/>
              </a:rPr>
              <a:t>• Offer bundled discounts or promotional pricing for assembly services on selected products</a:t>
            </a:r>
          </a:p>
          <a:p>
            <a:pPr>
              <a:buFont typeface="Wingdings" panose="05000000000000000000" pitchFamily="2" charset="2"/>
              <a:buChar char="ü"/>
            </a:pPr>
            <a:r>
              <a:rPr lang="en-US" sz="1600" b="1" dirty="0">
                <a:solidFill>
                  <a:srgbClr val="00B050"/>
                </a:solidFill>
                <a:latin typeface="+mj-lt"/>
              </a:rPr>
              <a:t>Expected Benefit:</a:t>
            </a:r>
            <a:br>
              <a:rPr lang="en-US" sz="1600" dirty="0">
                <a:latin typeface="+mj-lt"/>
              </a:rPr>
            </a:br>
            <a:r>
              <a:rPr lang="en-US" sz="1600" dirty="0">
                <a:latin typeface="+mj-lt"/>
              </a:rPr>
              <a:t>Increased adoption of assembly services can raise average order value and generate additional service revenue.</a:t>
            </a:r>
          </a:p>
          <a:p>
            <a:endParaRPr lang="en-US" dirty="0"/>
          </a:p>
        </p:txBody>
      </p:sp>
    </p:spTree>
    <p:extLst>
      <p:ext uri="{BB962C8B-B14F-4D97-AF65-F5344CB8AC3E}">
        <p14:creationId xmlns:p14="http://schemas.microsoft.com/office/powerpoint/2010/main" val="157362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E885C-6706-2609-3212-FD7CB669F4C9}"/>
              </a:ext>
            </a:extLst>
          </p:cNvPr>
          <p:cNvSpPr>
            <a:spLocks noGrp="1"/>
          </p:cNvSpPr>
          <p:nvPr>
            <p:ph idx="1"/>
          </p:nvPr>
        </p:nvSpPr>
        <p:spPr>
          <a:xfrm>
            <a:off x="838200" y="688257"/>
            <a:ext cx="10515600" cy="5488705"/>
          </a:xfrm>
        </p:spPr>
        <p:txBody>
          <a:bodyPr>
            <a:normAutofit/>
          </a:bodyPr>
          <a:lstStyle/>
          <a:p>
            <a:pPr marL="0" indent="0">
              <a:buNone/>
            </a:pPr>
            <a:r>
              <a:rPr lang="en-US" sz="1800" dirty="0"/>
              <a:t>3. Focus on High-Revenue Product Categories and Brands</a:t>
            </a:r>
          </a:p>
          <a:p>
            <a:pPr>
              <a:buFont typeface="Wingdings" panose="05000000000000000000" pitchFamily="2" charset="2"/>
              <a:buChar char="v"/>
            </a:pPr>
            <a:r>
              <a:rPr lang="en-US" sz="1600" dirty="0">
                <a:latin typeface="+mj-lt"/>
              </a:rPr>
              <a:t>Certain product categories and brands contributed a significant portion of total revenue.</a:t>
            </a:r>
          </a:p>
          <a:p>
            <a:pPr>
              <a:buFont typeface="Wingdings" panose="05000000000000000000" pitchFamily="2" charset="2"/>
              <a:buChar char="ü"/>
            </a:pPr>
            <a:r>
              <a:rPr lang="en-US" sz="1600" b="1" dirty="0">
                <a:solidFill>
                  <a:srgbClr val="00B050"/>
                </a:solidFill>
                <a:latin typeface="+mj-lt"/>
              </a:rPr>
              <a:t>Action:</a:t>
            </a:r>
            <a:br>
              <a:rPr lang="en-US" sz="1600" dirty="0">
                <a:latin typeface="+mj-lt"/>
              </a:rPr>
            </a:br>
            <a:r>
              <a:rPr lang="en-US" sz="1600" dirty="0">
                <a:latin typeface="+mj-lt"/>
              </a:rPr>
              <a:t>• Increase marketing and promotional efforts for top-performing categories and brands</a:t>
            </a:r>
            <a:br>
              <a:rPr lang="en-US" sz="1600" dirty="0">
                <a:latin typeface="+mj-lt"/>
              </a:rPr>
            </a:br>
            <a:r>
              <a:rPr lang="en-US" sz="1600" dirty="0">
                <a:latin typeface="+mj-lt"/>
              </a:rPr>
              <a:t>• Ensure sufficient inventory availability for high-demand products</a:t>
            </a:r>
          </a:p>
          <a:p>
            <a:pPr>
              <a:buFont typeface="Wingdings" panose="05000000000000000000" pitchFamily="2" charset="2"/>
              <a:buChar char="ü"/>
            </a:pPr>
            <a:r>
              <a:rPr lang="en-US" sz="1600" b="1" dirty="0">
                <a:solidFill>
                  <a:srgbClr val="00B050"/>
                </a:solidFill>
                <a:latin typeface="+mj-lt"/>
              </a:rPr>
              <a:t>Expected Benefit:</a:t>
            </a:r>
            <a:br>
              <a:rPr lang="en-US" sz="1600" dirty="0">
                <a:latin typeface="+mj-lt"/>
              </a:rPr>
            </a:br>
            <a:r>
              <a:rPr lang="en-US" sz="1600" dirty="0">
                <a:latin typeface="+mj-lt"/>
              </a:rPr>
              <a:t>Improved focus on high-performing segments can drive revenue growth and improve inventory turnover</a:t>
            </a:r>
            <a:r>
              <a:rPr lang="en-US" dirty="0"/>
              <a:t>.</a:t>
            </a:r>
          </a:p>
          <a:p>
            <a:pPr marL="0" indent="0">
              <a:buNone/>
            </a:pPr>
            <a:r>
              <a:rPr lang="en-US" sz="1800" dirty="0"/>
              <a:t>4. Reduce Delivery Delays and Improve Fulfillment Performance</a:t>
            </a:r>
          </a:p>
          <a:p>
            <a:pPr>
              <a:buFont typeface="Wingdings" panose="05000000000000000000" pitchFamily="2" charset="2"/>
              <a:buChar char="v"/>
            </a:pPr>
            <a:r>
              <a:rPr lang="en-US" sz="1700" dirty="0">
                <a:latin typeface="+mj-lt"/>
              </a:rPr>
              <a:t>Lower customer ratings were frequently associated with delayed or unsuccessful deliveries.</a:t>
            </a:r>
          </a:p>
          <a:p>
            <a:pPr>
              <a:buFont typeface="Wingdings" panose="05000000000000000000" pitchFamily="2" charset="2"/>
              <a:buChar char="ü"/>
            </a:pPr>
            <a:r>
              <a:rPr lang="en-US" sz="1700" b="1" dirty="0">
                <a:solidFill>
                  <a:srgbClr val="00B050"/>
                </a:solidFill>
                <a:latin typeface="+mj-lt"/>
              </a:rPr>
              <a:t>Action:</a:t>
            </a:r>
            <a:br>
              <a:rPr lang="en-US" sz="1700" dirty="0">
                <a:latin typeface="+mj-lt"/>
              </a:rPr>
            </a:br>
            <a:r>
              <a:rPr lang="en-US" sz="1700" dirty="0">
                <a:latin typeface="+mj-lt"/>
              </a:rPr>
              <a:t>• Strengthen delivery monitoring and tracking systems</a:t>
            </a:r>
            <a:br>
              <a:rPr lang="en-US" sz="1700" dirty="0">
                <a:latin typeface="+mj-lt"/>
              </a:rPr>
            </a:br>
            <a:r>
              <a:rPr lang="en-US" sz="1700" dirty="0">
                <a:latin typeface="+mj-lt"/>
              </a:rPr>
              <a:t>• Implement proactive customer communication for delayed orders</a:t>
            </a:r>
          </a:p>
          <a:p>
            <a:pPr>
              <a:buFont typeface="Wingdings" panose="05000000000000000000" pitchFamily="2" charset="2"/>
              <a:buChar char="ü"/>
            </a:pPr>
            <a:r>
              <a:rPr lang="en-US" sz="1700" b="1" dirty="0">
                <a:solidFill>
                  <a:srgbClr val="00B050"/>
                </a:solidFill>
                <a:latin typeface="+mj-lt"/>
              </a:rPr>
              <a:t>Expected Benefit:</a:t>
            </a:r>
            <a:br>
              <a:rPr lang="en-US" sz="1700" dirty="0">
                <a:latin typeface="+mj-lt"/>
              </a:rPr>
            </a:br>
            <a:r>
              <a:rPr lang="en-US" sz="1700" dirty="0">
                <a:latin typeface="+mj-lt"/>
              </a:rPr>
              <a:t>Improved fulfillment performance can reduce complaints, minimize returns, and increase customer satisfaction.</a:t>
            </a:r>
          </a:p>
          <a:p>
            <a:endParaRPr lang="en-US" dirty="0"/>
          </a:p>
        </p:txBody>
      </p:sp>
    </p:spTree>
    <p:extLst>
      <p:ext uri="{BB962C8B-B14F-4D97-AF65-F5344CB8AC3E}">
        <p14:creationId xmlns:p14="http://schemas.microsoft.com/office/powerpoint/2010/main" val="1206932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6C3A1-5E3B-B12B-0E43-C3F60F2A0FB0}"/>
              </a:ext>
            </a:extLst>
          </p:cNvPr>
          <p:cNvSpPr>
            <a:spLocks noGrp="1"/>
          </p:cNvSpPr>
          <p:nvPr>
            <p:ph idx="1"/>
          </p:nvPr>
        </p:nvSpPr>
        <p:spPr>
          <a:xfrm>
            <a:off x="838200" y="629264"/>
            <a:ext cx="10515600" cy="5380550"/>
          </a:xfrm>
        </p:spPr>
        <p:txBody>
          <a:bodyPr>
            <a:normAutofit/>
          </a:bodyPr>
          <a:lstStyle/>
          <a:p>
            <a:pPr marL="0" indent="0">
              <a:buNone/>
            </a:pPr>
            <a:r>
              <a:rPr lang="en-US" sz="1800" dirty="0"/>
              <a:t>5.Optimize Brand and Category Performance</a:t>
            </a:r>
          </a:p>
          <a:p>
            <a:pPr>
              <a:buFont typeface="Wingdings" panose="05000000000000000000" pitchFamily="2" charset="2"/>
              <a:buChar char="v"/>
            </a:pPr>
            <a:r>
              <a:rPr lang="en-US" sz="1600" dirty="0">
                <a:latin typeface="+mj-lt"/>
              </a:rPr>
              <a:t>Overstock and Ashley Furniture perform strongly across major categories, while Wayfair and Pottery Barn underperform in Office and Dining Room segments.</a:t>
            </a:r>
          </a:p>
          <a:p>
            <a:pPr>
              <a:buFont typeface="Wingdings" panose="05000000000000000000" pitchFamily="2" charset="2"/>
              <a:buChar char="ü"/>
            </a:pPr>
            <a:r>
              <a:rPr lang="en-US" sz="1600" b="1" dirty="0">
                <a:solidFill>
                  <a:srgbClr val="00B050"/>
                </a:solidFill>
                <a:latin typeface="+mj-lt"/>
              </a:rPr>
              <a:t>Action:</a:t>
            </a:r>
            <a:br>
              <a:rPr lang="en-US" sz="1600" dirty="0">
                <a:latin typeface="+mj-lt"/>
              </a:rPr>
            </a:br>
            <a:r>
              <a:rPr lang="en-US" sz="1600" dirty="0">
                <a:latin typeface="+mj-lt"/>
              </a:rPr>
              <a:t>• Focus promotions and inventory on high-performing brands and categories</a:t>
            </a:r>
            <a:br>
              <a:rPr lang="en-US" sz="1600" dirty="0">
                <a:latin typeface="+mj-lt"/>
              </a:rPr>
            </a:br>
            <a:r>
              <a:rPr lang="en-US" sz="1600" dirty="0">
                <a:latin typeface="+mj-lt"/>
              </a:rPr>
              <a:t>• Apply targeted discounts and assortment improvements for underperforming brands</a:t>
            </a:r>
          </a:p>
          <a:p>
            <a:pPr>
              <a:buFont typeface="Wingdings" panose="05000000000000000000" pitchFamily="2" charset="2"/>
              <a:buChar char="ü"/>
            </a:pPr>
            <a:r>
              <a:rPr lang="en-US" sz="1600" b="1" dirty="0">
                <a:solidFill>
                  <a:srgbClr val="00B050"/>
                </a:solidFill>
                <a:latin typeface="+mj-lt"/>
              </a:rPr>
              <a:t>Expected Benefit:</a:t>
            </a:r>
            <a:br>
              <a:rPr lang="en-US" sz="1600" dirty="0">
                <a:latin typeface="+mj-lt"/>
              </a:rPr>
            </a:br>
            <a:r>
              <a:rPr lang="en-US" sz="1600" dirty="0">
                <a:latin typeface="+mj-lt"/>
              </a:rPr>
              <a:t>Improved revenue growth, better inventory utilization, and stronger category-level profitability.</a:t>
            </a:r>
          </a:p>
          <a:p>
            <a:pPr marL="0" indent="0">
              <a:buNone/>
            </a:pPr>
            <a:r>
              <a:rPr lang="en-US" sz="1800" dirty="0"/>
              <a:t>6. Optimize Pricing and Cost Structure</a:t>
            </a:r>
          </a:p>
          <a:p>
            <a:pPr>
              <a:buFont typeface="Wingdings" panose="05000000000000000000" pitchFamily="2" charset="2"/>
              <a:buChar char="v"/>
            </a:pPr>
            <a:r>
              <a:rPr lang="en-US" sz="1600" dirty="0">
                <a:latin typeface="+mj-lt"/>
              </a:rPr>
              <a:t>Outliers in shipping and assembly costs indicate potential operational inefficiencies.</a:t>
            </a:r>
          </a:p>
          <a:p>
            <a:pPr>
              <a:buFont typeface="Wingdings" panose="05000000000000000000" pitchFamily="2" charset="2"/>
              <a:buChar char="ü"/>
            </a:pPr>
            <a:r>
              <a:rPr lang="en-US" sz="1600" b="1" dirty="0">
                <a:solidFill>
                  <a:srgbClr val="00B050"/>
                </a:solidFill>
                <a:latin typeface="+mj-lt"/>
              </a:rPr>
              <a:t>Action:</a:t>
            </a:r>
            <a:br>
              <a:rPr lang="en-US" sz="1600" dirty="0">
                <a:latin typeface="+mj-lt"/>
              </a:rPr>
            </a:br>
            <a:r>
              <a:rPr lang="en-US" sz="1600" dirty="0">
                <a:latin typeface="+mj-lt"/>
              </a:rPr>
              <a:t>• Review high-cost delivery and assembly cases for process optimization</a:t>
            </a:r>
            <a:br>
              <a:rPr lang="en-US" sz="1600" dirty="0">
                <a:latin typeface="+mj-lt"/>
              </a:rPr>
            </a:br>
            <a:r>
              <a:rPr lang="en-US" sz="1600" dirty="0">
                <a:latin typeface="+mj-lt"/>
              </a:rPr>
              <a:t>• Negotiate improved pricing with logistics and service partners</a:t>
            </a:r>
          </a:p>
          <a:p>
            <a:pPr>
              <a:buFont typeface="Wingdings" panose="05000000000000000000" pitchFamily="2" charset="2"/>
              <a:buChar char="ü"/>
            </a:pPr>
            <a:r>
              <a:rPr lang="en-US" sz="1600" b="1" dirty="0">
                <a:solidFill>
                  <a:srgbClr val="00B050"/>
                </a:solidFill>
                <a:latin typeface="+mj-lt"/>
              </a:rPr>
              <a:t>Expected Benefit:</a:t>
            </a:r>
            <a:br>
              <a:rPr lang="en-US" sz="1600" dirty="0">
                <a:latin typeface="+mj-lt"/>
              </a:rPr>
            </a:br>
            <a:r>
              <a:rPr lang="en-US" sz="1600" dirty="0">
                <a:latin typeface="+mj-lt"/>
              </a:rPr>
              <a:t>Cost optimization can improve profit margins while maintaining service quality.</a:t>
            </a:r>
          </a:p>
          <a:p>
            <a:pPr marL="0" indent="0">
              <a:buNone/>
            </a:pPr>
            <a:endParaRPr lang="en-US" dirty="0"/>
          </a:p>
        </p:txBody>
      </p:sp>
    </p:spTree>
    <p:extLst>
      <p:ext uri="{BB962C8B-B14F-4D97-AF65-F5344CB8AC3E}">
        <p14:creationId xmlns:p14="http://schemas.microsoft.com/office/powerpoint/2010/main" val="477947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AA4B4-F0C8-D9E5-B11E-CA2A60370B6F}"/>
              </a:ext>
            </a:extLst>
          </p:cNvPr>
          <p:cNvSpPr>
            <a:spLocks noGrp="1"/>
          </p:cNvSpPr>
          <p:nvPr>
            <p:ph idx="1"/>
          </p:nvPr>
        </p:nvSpPr>
        <p:spPr>
          <a:xfrm>
            <a:off x="1107440" y="558800"/>
            <a:ext cx="9497634" cy="5404802"/>
          </a:xfrm>
        </p:spPr>
        <p:txBody>
          <a:bodyPr>
            <a:normAutofit/>
          </a:bodyPr>
          <a:lstStyle/>
          <a:p>
            <a:pPr marL="0" indent="0">
              <a:buNone/>
            </a:pPr>
            <a:r>
              <a:rPr lang="en-US" sz="1800" dirty="0"/>
              <a:t>7. Low-Performing Categories</a:t>
            </a:r>
          </a:p>
          <a:p>
            <a:pPr>
              <a:buFont typeface="Wingdings" panose="05000000000000000000" pitchFamily="2" charset="2"/>
              <a:buChar char="v"/>
            </a:pPr>
            <a:r>
              <a:rPr lang="en-US" sz="1800" dirty="0">
                <a:latin typeface="+mj-lt"/>
              </a:rPr>
              <a:t>Based on the Band analysis with Products chart, the "Low" performance is clearly concentrated in the Office and Dining Room categories, marked by red diamonds and lighter shading.</a:t>
            </a:r>
          </a:p>
          <a:p>
            <a:pPr>
              <a:buFont typeface="Wingdings" panose="05000000000000000000" pitchFamily="2" charset="2"/>
              <a:buChar char="ü"/>
            </a:pPr>
            <a:r>
              <a:rPr lang="en-US" sz="1800" b="1" dirty="0">
                <a:solidFill>
                  <a:srgbClr val="00B050"/>
                </a:solidFill>
              </a:rPr>
              <a:t>Action:</a:t>
            </a:r>
          </a:p>
          <a:p>
            <a:pPr marL="0" indent="0">
              <a:buNone/>
            </a:pPr>
            <a:r>
              <a:rPr lang="en-US" sz="1800" b="1" dirty="0"/>
              <a:t>Office: </a:t>
            </a:r>
            <a:r>
              <a:rPr lang="en-US" sz="1800" dirty="0">
                <a:latin typeface="+mj-lt"/>
              </a:rPr>
              <a:t>Modernize Inventory: Update the catalog with ergonomic chairs and "small-space" desks to target the remote-work market.</a:t>
            </a:r>
          </a:p>
          <a:p>
            <a:pPr>
              <a:buFont typeface="Wingdings" panose="05000000000000000000" pitchFamily="2" charset="2"/>
              <a:buChar char="ü"/>
            </a:pPr>
            <a:r>
              <a:rPr lang="en-US" sz="1800" b="1" dirty="0">
                <a:solidFill>
                  <a:srgbClr val="00B050"/>
                </a:solidFill>
              </a:rPr>
              <a:t>Expected Benefit:</a:t>
            </a:r>
            <a:endParaRPr lang="en-US" sz="1800" dirty="0">
              <a:latin typeface="+mj-lt"/>
            </a:endParaRPr>
          </a:p>
          <a:p>
            <a:pPr marL="0" indent="0">
              <a:buNone/>
            </a:pPr>
            <a:r>
              <a:rPr lang="en-US" sz="1800" dirty="0">
                <a:latin typeface="+mj-lt"/>
              </a:rPr>
              <a:t> Increased Conversion: Attracts a higher-intent demographic currently underserved by the existing basic   furniture line.</a:t>
            </a:r>
          </a:p>
          <a:p>
            <a:pPr>
              <a:buFont typeface="Wingdings" panose="05000000000000000000" pitchFamily="2" charset="2"/>
              <a:buChar char="ü"/>
            </a:pPr>
            <a:r>
              <a:rPr lang="en-US" sz="1800" b="1" dirty="0">
                <a:solidFill>
                  <a:srgbClr val="00B050"/>
                </a:solidFill>
              </a:rPr>
              <a:t>Action:</a:t>
            </a:r>
          </a:p>
          <a:p>
            <a:pPr marL="0" indent="0">
              <a:buNone/>
            </a:pPr>
            <a:r>
              <a:rPr lang="en-US" sz="1800" b="1" dirty="0"/>
              <a:t>Dining Room</a:t>
            </a:r>
            <a:r>
              <a:rPr lang="en-US" sz="1800" b="1" dirty="0">
                <a:solidFill>
                  <a:srgbClr val="00B050"/>
                </a:solidFill>
              </a:rPr>
              <a:t>: </a:t>
            </a:r>
            <a:r>
              <a:rPr lang="en-US" sz="1800" dirty="0">
                <a:latin typeface="+mj-lt"/>
              </a:rPr>
              <a:t>Bundle &amp; Save: Create "Complete Set" deals (e.g., Table + 4 Chairs) or cross-category bundles with Kitchen items.</a:t>
            </a:r>
          </a:p>
          <a:p>
            <a:pPr>
              <a:buFont typeface="Wingdings" panose="05000000000000000000" pitchFamily="2" charset="2"/>
              <a:buChar char="ü"/>
            </a:pPr>
            <a:r>
              <a:rPr lang="en-US" sz="1800" b="1" dirty="0">
                <a:solidFill>
                  <a:srgbClr val="00B050"/>
                </a:solidFill>
              </a:rPr>
              <a:t>Expected Benefit: </a:t>
            </a:r>
            <a:r>
              <a:rPr lang="en-US" sz="1800" dirty="0">
                <a:latin typeface="+mj-lt"/>
              </a:rPr>
              <a:t>Higher Average Order Value (AOV): Encourages customers to buy multiple items at once rather than just single pieces.</a:t>
            </a:r>
            <a:endParaRPr lang="en-US" sz="1800" dirty="0">
              <a:solidFill>
                <a:srgbClr val="00B050"/>
              </a:solidFill>
              <a:latin typeface="+mj-lt"/>
            </a:endParaRPr>
          </a:p>
        </p:txBody>
      </p:sp>
    </p:spTree>
    <p:extLst>
      <p:ext uri="{BB962C8B-B14F-4D97-AF65-F5344CB8AC3E}">
        <p14:creationId xmlns:p14="http://schemas.microsoft.com/office/powerpoint/2010/main" val="1837922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10A2-567E-74F8-DB75-0C2D27FD0DCE}"/>
              </a:ext>
            </a:extLst>
          </p:cNvPr>
          <p:cNvSpPr>
            <a:spLocks noGrp="1"/>
          </p:cNvSpPr>
          <p:nvPr>
            <p:ph type="title"/>
          </p:nvPr>
        </p:nvSpPr>
        <p:spPr>
          <a:xfrm>
            <a:off x="759542" y="373627"/>
            <a:ext cx="9583994" cy="609599"/>
          </a:xfrm>
        </p:spPr>
        <p:txBody>
          <a:bodyPr>
            <a:normAutofit fontScale="90000"/>
          </a:bodyPr>
          <a:lstStyle/>
          <a:p>
            <a:br>
              <a:rPr lang="en-US" sz="4000" b="1" dirty="0"/>
            </a:br>
            <a:r>
              <a:rPr lang="en-US" b="1" dirty="0"/>
              <a:t>12. Limitations</a:t>
            </a:r>
            <a:br>
              <a:rPr lang="en-US" b="1" dirty="0"/>
            </a:br>
            <a:endParaRPr lang="en-US" dirty="0"/>
          </a:p>
        </p:txBody>
      </p:sp>
      <p:sp>
        <p:nvSpPr>
          <p:cNvPr id="3" name="Content Placeholder 2">
            <a:extLst>
              <a:ext uri="{FF2B5EF4-FFF2-40B4-BE49-F238E27FC236}">
                <a16:creationId xmlns:a16="http://schemas.microsoft.com/office/drawing/2014/main" id="{37F001AD-3CA9-4BF0-2992-DE229D798850}"/>
              </a:ext>
            </a:extLst>
          </p:cNvPr>
          <p:cNvSpPr>
            <a:spLocks noGrp="1"/>
          </p:cNvSpPr>
          <p:nvPr>
            <p:ph idx="1"/>
          </p:nvPr>
        </p:nvSpPr>
        <p:spPr>
          <a:xfrm>
            <a:off x="841887" y="935370"/>
            <a:ext cx="10508226" cy="4987260"/>
          </a:xfrm>
        </p:spPr>
        <p:txBody>
          <a:bodyPr>
            <a:normAutofit/>
          </a:bodyPr>
          <a:lstStyle/>
          <a:p>
            <a:pPr>
              <a:buFont typeface="Wingdings" panose="05000000000000000000" pitchFamily="2" charset="2"/>
              <a:buChar char="§"/>
            </a:pPr>
            <a:r>
              <a:rPr lang="en-US" sz="1800" dirty="0">
                <a:latin typeface="+mj-lt"/>
              </a:rPr>
              <a:t>The analysis is based on historical data and may not reflect recent operational changes or seasonal variations in customer behavior.</a:t>
            </a:r>
          </a:p>
          <a:p>
            <a:pPr>
              <a:buFont typeface="Wingdings" panose="05000000000000000000" pitchFamily="2" charset="2"/>
              <a:buChar char="§"/>
            </a:pPr>
            <a:r>
              <a:rPr lang="en-US" sz="1800" dirty="0">
                <a:latin typeface="+mj-lt"/>
              </a:rPr>
              <a:t>Customer demographic information was not available, limiting the ability to perform detailed segmentation and personalization analysis.</a:t>
            </a:r>
          </a:p>
          <a:p>
            <a:pPr>
              <a:buFont typeface="Wingdings" panose="05000000000000000000" pitchFamily="2" charset="2"/>
              <a:buChar char="§"/>
            </a:pPr>
            <a:r>
              <a:rPr lang="en-US" sz="1800" dirty="0">
                <a:latin typeface="+mj-lt"/>
              </a:rPr>
              <a:t>Satisfaction metrics are presented as aggregated averages, which may hide extreme individual customer experiences and reduce diagnostic precision.</a:t>
            </a:r>
          </a:p>
          <a:p>
            <a:pPr>
              <a:buFont typeface="Wingdings" panose="05000000000000000000" pitchFamily="2" charset="2"/>
              <a:buChar char="§"/>
            </a:pPr>
            <a:r>
              <a:rPr lang="en-US" sz="1800" dirty="0">
                <a:latin typeface="+mj-lt"/>
              </a:rPr>
              <a:t>Detailed operational variables such as courier performance, warehouse location, packaging quality, and specific delay reasons were not included in the dataset.</a:t>
            </a:r>
          </a:p>
          <a:p>
            <a:pPr>
              <a:buFont typeface="Wingdings" panose="05000000000000000000" pitchFamily="2" charset="2"/>
              <a:buChar char="§"/>
            </a:pPr>
            <a:r>
              <a:rPr lang="en-US" sz="1800" dirty="0">
                <a:latin typeface="+mj-lt"/>
              </a:rPr>
              <a:t>Customer feedback data was limited to quantitative ratings, without qualitative comments to explain the underlying causes of dissatisfaction.</a:t>
            </a:r>
          </a:p>
          <a:p>
            <a:endParaRPr lang="en-US" dirty="0"/>
          </a:p>
        </p:txBody>
      </p:sp>
    </p:spTree>
    <p:extLst>
      <p:ext uri="{BB962C8B-B14F-4D97-AF65-F5344CB8AC3E}">
        <p14:creationId xmlns:p14="http://schemas.microsoft.com/office/powerpoint/2010/main" val="1227286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7B11C-E877-57CB-7902-64189920DA67}"/>
              </a:ext>
            </a:extLst>
          </p:cNvPr>
          <p:cNvSpPr>
            <a:spLocks noGrp="1"/>
          </p:cNvSpPr>
          <p:nvPr>
            <p:ph type="title"/>
          </p:nvPr>
        </p:nvSpPr>
        <p:spPr>
          <a:xfrm>
            <a:off x="838200" y="365125"/>
            <a:ext cx="10515600" cy="460785"/>
          </a:xfrm>
        </p:spPr>
        <p:txBody>
          <a:bodyPr>
            <a:normAutofit fontScale="90000"/>
          </a:bodyPr>
          <a:lstStyle/>
          <a:p>
            <a:r>
              <a:rPr lang="en-US" dirty="0"/>
              <a:t>13. Conclusion</a:t>
            </a:r>
          </a:p>
        </p:txBody>
      </p:sp>
      <p:sp>
        <p:nvSpPr>
          <p:cNvPr id="3" name="Content Placeholder 2">
            <a:extLst>
              <a:ext uri="{FF2B5EF4-FFF2-40B4-BE49-F238E27FC236}">
                <a16:creationId xmlns:a16="http://schemas.microsoft.com/office/drawing/2014/main" id="{F9FC1A06-06B6-2DF1-B771-9F1AED1F6891}"/>
              </a:ext>
            </a:extLst>
          </p:cNvPr>
          <p:cNvSpPr>
            <a:spLocks noGrp="1"/>
          </p:cNvSpPr>
          <p:nvPr>
            <p:ph idx="1"/>
          </p:nvPr>
        </p:nvSpPr>
        <p:spPr>
          <a:xfrm>
            <a:off x="838200" y="1101213"/>
            <a:ext cx="11019504" cy="5279922"/>
          </a:xfrm>
        </p:spPr>
        <p:txBody>
          <a:bodyPr>
            <a:normAutofit/>
          </a:bodyPr>
          <a:lstStyle/>
          <a:p>
            <a:pPr>
              <a:buFont typeface="Wingdings" panose="05000000000000000000" pitchFamily="2" charset="2"/>
              <a:buChar char="q"/>
            </a:pPr>
            <a:r>
              <a:rPr lang="en-US" sz="1800" b="1" dirty="0"/>
              <a:t> Problem Summary</a:t>
            </a:r>
          </a:p>
          <a:p>
            <a:pPr marL="0" indent="0">
              <a:buNone/>
            </a:pPr>
            <a:r>
              <a:rPr lang="en-US" sz="1800" dirty="0">
                <a:latin typeface="+mj-lt"/>
              </a:rPr>
              <a:t>This project aimed to analyze customer satisfaction and brand performance using order, delivery, service, and product category data. The primary objective was to identify the key drivers of low Net Promoter Score (NPS), understand variations in customer experience across operational factors and brands, and highlight areas requiring operational and strategic improvement.</a:t>
            </a:r>
          </a:p>
          <a:p>
            <a:pPr>
              <a:buFont typeface="Wingdings" panose="05000000000000000000" pitchFamily="2" charset="2"/>
              <a:buChar char="q"/>
            </a:pPr>
            <a:r>
              <a:rPr lang="en-US" sz="1800" b="1" dirty="0"/>
              <a:t>Value Delivered</a:t>
            </a:r>
          </a:p>
          <a:p>
            <a:pPr marL="0" indent="0">
              <a:buNone/>
            </a:pPr>
            <a:r>
              <a:rPr lang="en-US" sz="1800" dirty="0">
                <a:latin typeface="+mj-lt"/>
              </a:rPr>
              <a:t>The analysis provided clear, data-driven insights into the main causes of customer dissatisfaction, particularly delivery failures, extended delivery windows, and category-specific performance gaps. It also identified high-impact opportunities such as promoting assembly services, improving payment experience, and prioritizing high-performing product categories and brands. These findings enable management to take targeted actions to improve service quality, enhance customer satisfaction, and protect long-term revenue and brand equity.</a:t>
            </a:r>
          </a:p>
          <a:p>
            <a:pPr>
              <a:buFont typeface="Wingdings" panose="05000000000000000000" pitchFamily="2" charset="2"/>
              <a:buChar char="q"/>
            </a:pPr>
            <a:r>
              <a:rPr lang="en-US" sz="1800" b="1" dirty="0"/>
              <a:t>Final Remarks</a:t>
            </a:r>
          </a:p>
          <a:p>
            <a:pPr marL="0" indent="0">
              <a:buNone/>
            </a:pPr>
            <a:r>
              <a:rPr lang="en-US" sz="1800" dirty="0">
                <a:latin typeface="+mj-lt"/>
              </a:rPr>
              <a:t>Overall, the study demonstrates the importance of operational excellence and service quality in driving customer loyalty and business performance. By addressing the identified gaps and implementing the recommended improvements, the organization can significantly improve NPS, reduce churn risk, and strengthen its competitive position. Future enhancements through richer data and predictive analytics will further support informed decision-making and sustained growth.</a:t>
            </a:r>
          </a:p>
          <a:p>
            <a:endParaRPr lang="en-US" dirty="0"/>
          </a:p>
        </p:txBody>
      </p:sp>
    </p:spTree>
    <p:extLst>
      <p:ext uri="{BB962C8B-B14F-4D97-AF65-F5344CB8AC3E}">
        <p14:creationId xmlns:p14="http://schemas.microsoft.com/office/powerpoint/2010/main" val="2645181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4CFA-6C15-2043-C9AF-F45F68C66766}"/>
              </a:ext>
            </a:extLst>
          </p:cNvPr>
          <p:cNvSpPr>
            <a:spLocks noGrp="1"/>
          </p:cNvSpPr>
          <p:nvPr>
            <p:ph type="title"/>
          </p:nvPr>
        </p:nvSpPr>
        <p:spPr>
          <a:xfrm>
            <a:off x="838200" y="233669"/>
            <a:ext cx="10515600" cy="1019662"/>
          </a:xfrm>
        </p:spPr>
        <p:txBody>
          <a:bodyPr>
            <a:normAutofit fontScale="90000"/>
          </a:bodyPr>
          <a:lstStyle/>
          <a:p>
            <a:br>
              <a:rPr lang="en-US" dirty="0"/>
            </a:br>
            <a:r>
              <a:rPr lang="en-US" b="1" dirty="0"/>
              <a:t>14.References</a:t>
            </a:r>
            <a:br>
              <a:rPr lang="en-US" dirty="0"/>
            </a:br>
            <a:endParaRPr lang="en-US" dirty="0"/>
          </a:p>
        </p:txBody>
      </p:sp>
      <p:sp>
        <p:nvSpPr>
          <p:cNvPr id="3" name="Content Placeholder 2">
            <a:extLst>
              <a:ext uri="{FF2B5EF4-FFF2-40B4-BE49-F238E27FC236}">
                <a16:creationId xmlns:a16="http://schemas.microsoft.com/office/drawing/2014/main" id="{B2331F3C-58A6-593C-3581-17446EC94A69}"/>
              </a:ext>
            </a:extLst>
          </p:cNvPr>
          <p:cNvSpPr>
            <a:spLocks noGrp="1"/>
          </p:cNvSpPr>
          <p:nvPr>
            <p:ph idx="1"/>
          </p:nvPr>
        </p:nvSpPr>
        <p:spPr>
          <a:xfrm>
            <a:off x="838200" y="1174673"/>
            <a:ext cx="10515600" cy="4351338"/>
          </a:xfrm>
        </p:spPr>
        <p:txBody>
          <a:bodyPr/>
          <a:lstStyle/>
          <a:p>
            <a:r>
              <a:rPr lang="en-US" sz="1800" dirty="0">
                <a:latin typeface="+mj-lt"/>
              </a:rPr>
              <a:t>Dataset Name: Online Furniture Orders – Delivery and Assembly (2025)  </a:t>
            </a:r>
          </a:p>
          <a:p>
            <a:r>
              <a:rPr lang="en-US" sz="1800" dirty="0">
                <a:latin typeface="+mj-lt"/>
              </a:rPr>
              <a:t>Source: Kaggle (Public Dataset)  </a:t>
            </a:r>
          </a:p>
          <a:p>
            <a:r>
              <a:rPr lang="en-US" sz="1800" dirty="0">
                <a:latin typeface="+mj-lt"/>
              </a:rPr>
              <a:t>Author: Pratyush Puri  </a:t>
            </a:r>
          </a:p>
          <a:p>
            <a:r>
              <a:rPr lang="en-US" sz="1800" dirty="0">
                <a:latin typeface="+mj-lt"/>
              </a:rPr>
              <a:t>URL: https://www.kaggle.com/datasets/pratyushpuri/online-furniture-orders-delivery-and-assembly-2025  </a:t>
            </a:r>
          </a:p>
          <a:p>
            <a:pPr marL="0" indent="0">
              <a:buNone/>
            </a:pPr>
            <a:endParaRPr lang="en-US" dirty="0"/>
          </a:p>
        </p:txBody>
      </p:sp>
    </p:spTree>
    <p:extLst>
      <p:ext uri="{BB962C8B-B14F-4D97-AF65-F5344CB8AC3E}">
        <p14:creationId xmlns:p14="http://schemas.microsoft.com/office/powerpoint/2010/main" val="2598254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3798</TotalTime>
  <Words>3916</Words>
  <Application>Microsoft Office PowerPoint</Application>
  <PresentationFormat>Widescreen</PresentationFormat>
  <Paragraphs>244</Paragraphs>
  <Slides>42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Bahnschrift</vt:lpstr>
      <vt:lpstr>Calibri</vt:lpstr>
      <vt:lpstr>Calibri Light</vt:lpstr>
      <vt:lpstr>Wingdings</vt:lpstr>
      <vt:lpstr>Office Theme</vt:lpstr>
      <vt:lpstr>PowerPoint Presentation</vt:lpstr>
      <vt:lpstr>PowerPoint Presentation</vt:lpstr>
      <vt:lpstr>1.Objective:</vt:lpstr>
      <vt:lpstr>2. Business/Client Questions</vt:lpstr>
      <vt:lpstr>3.Data Overview</vt:lpstr>
      <vt:lpstr>Key Variables:</vt:lpstr>
      <vt:lpstr>PowerPoint Presentation</vt:lpstr>
      <vt:lpstr>4.Tools and Technology Used</vt:lpstr>
      <vt:lpstr>5. Data Cleaning and Preparation </vt:lpstr>
      <vt:lpstr>PowerPoint Presentation</vt:lpstr>
      <vt:lpstr> 6. Exploratory Data Analysis (EDA) </vt:lpstr>
      <vt:lpstr>PowerPoint Presentation</vt:lpstr>
      <vt:lpstr>PowerPoint Presentation</vt:lpstr>
      <vt:lpstr>PowerPoint Presentation</vt:lpstr>
      <vt:lpstr>PowerPoint Presentation</vt:lpstr>
      <vt:lpstr>7.SQL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 Power BI Dashboard</vt:lpstr>
      <vt:lpstr>Power BI Dashboard Analysis</vt:lpstr>
      <vt:lpstr>PowerPoint Presentation</vt:lpstr>
      <vt:lpstr>PowerPoint Presentation</vt:lpstr>
      <vt:lpstr>PowerPoint Presentation</vt:lpstr>
      <vt:lpstr>PowerPoint Presentation</vt:lpstr>
      <vt:lpstr>PowerPoint Presentation</vt:lpstr>
      <vt:lpstr>PowerPoint Presentation</vt:lpstr>
      <vt:lpstr>10. Key Insights and Findings</vt:lpstr>
      <vt:lpstr>PowerPoint Presentation</vt:lpstr>
      <vt:lpstr>PowerPoint Presentation</vt:lpstr>
      <vt:lpstr>11.Recommendations </vt:lpstr>
      <vt:lpstr>PowerPoint Presentation</vt:lpstr>
      <vt:lpstr>PowerPoint Presentation</vt:lpstr>
      <vt:lpstr>PowerPoint Presentation</vt:lpstr>
      <vt:lpstr> 12. Limitations </vt:lpstr>
      <vt:lpstr>13. Conclusion</vt:lpstr>
      <vt:lpstr> 14.References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vidhyakunju81@gmail.com</dc:creator>
  <cp:lastModifiedBy>vidhyakunju81@gmail.com</cp:lastModifiedBy>
  <cp:revision>24</cp:revision>
  <dcterms:created xsi:type="dcterms:W3CDTF">2026-01-20T05:06:01Z</dcterms:created>
  <dcterms:modified xsi:type="dcterms:W3CDTF">2026-04-11T17:29:11Z</dcterms:modified>
</cp:coreProperties>
</file>